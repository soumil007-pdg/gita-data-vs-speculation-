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yogajala.com/positive-thinking-bhagavad-gita-quot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s.icrc.org/religion-humanitarianprinciples/bhagavad-gita-ethics-war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rimadgita.com/blog/verse-1133-time-destroyer-deep-di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oly-bhagavad-gita.org/chapter/1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btg.krishna.com/the-essence-of-the-essenc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ita-society.com/Read-bhagavad-gita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50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ॐ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DATA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</a:t>
            </a:r>
            <a:pPr algn="ctr" indent="0" marL="0">
              <a:lnSpc>
                <a:spcPts val="4600"/>
              </a:lnSpc>
              <a:buNone/>
            </a:pPr>
            <a:r>
              <a:rPr lang="en-US" sz="4000" b="1" i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Actually</a:t>
            </a:r>
            <a:pPr algn="ctr" indent="0" marL="0">
              <a:lnSpc>
                <a:spcPts val="4600"/>
              </a:lnSpc>
              <a:buNone/>
            </a:pPr>
            <a:endParaRPr lang="en-US" sz="40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About the </a:t>
            </a:r>
            <a:endParaRPr lang="en-US" sz="40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000" b="1" i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Gita</a:t>
            </a:r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667512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widely believed things about the Bhagavad Gita, tested against 700 verses across 9 different analytical methods.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832104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7" name="Shape 5"/>
          <p:cNvSpPr/>
          <p:nvPr/>
        </p:nvSpPr>
        <p:spPr>
          <a:xfrm>
            <a:off x="4251960" y="832104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8" name="Shape 6"/>
          <p:cNvSpPr/>
          <p:nvPr/>
        </p:nvSpPr>
        <p:spPr>
          <a:xfrm>
            <a:off x="4526280" y="8321040"/>
            <a:ext cx="54864" cy="54864"/>
          </a:xfrm>
          <a:prstGeom prst="ellipse">
            <a:avLst/>
          </a:prstGeom>
          <a:solidFill>
            <a:srgbClr val="F5A83D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832104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10" name="Shape 8"/>
          <p:cNvSpPr/>
          <p:nvPr/>
        </p:nvSpPr>
        <p:spPr>
          <a:xfrm>
            <a:off x="5074920" y="832104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0058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swipe to see the analysis 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Gita is a book of unwavering positivity.”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dominant popular framing: the Gita as a self-help text for optimism and inner peace.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394960"/>
            <a:ext cx="7680960" cy="2377440"/>
          </a:xfrm>
          <a:prstGeom prst="roundRect">
            <a:avLst>
              <a:gd name="adj" fmla="val 3077"/>
            </a:avLst>
          </a:prstGeom>
          <a:solidFill>
            <a:srgbClr val="271B10"/>
          </a:solidFill>
          <a:ln w="12700">
            <a:solidFill>
              <a:srgbClr val="433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 VERIFIED LIVE LINK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6035040"/>
            <a:ext cx="7040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“...the Bhagavad Gita is a rich tapestry of insights from the Mahabharata that promote positive thinking and an optimistic outlook.”</a:t>
            </a:r>
            <a:endParaRPr lang="en-US" sz="14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51560" y="72694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yogajala.com/positive-thinking-bhagavad-gita-quotes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1381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Articles like this dominate the top search results for "Bhagavad Gita meaning." This is what most people believe before reading a single chapter.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9921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WHAT DOES THE DATA SAY?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 all 700 verses through a 28-emotion classifier (GoEmotions).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10 TOTAL EMOTION SCORES / REAL VALUES FROM YOUR NOTEBOOK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227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77440" y="3300984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3300984"/>
            <a:ext cx="5349240" cy="219456"/>
          </a:xfrm>
          <a:prstGeom prst="rect">
            <a:avLst/>
          </a:prstGeom>
          <a:solidFill>
            <a:srgbClr val="8A7A62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3227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667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77440" y="3739896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3739896"/>
            <a:ext cx="1310018" cy="219456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3" name="Text 11"/>
          <p:cNvSpPr/>
          <p:nvPr/>
        </p:nvSpPr>
        <p:spPr>
          <a:xfrm>
            <a:off x="3778898" y="36667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10565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admiration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4178808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6" name="Shape 14"/>
          <p:cNvSpPr/>
          <p:nvPr/>
        </p:nvSpPr>
        <p:spPr>
          <a:xfrm>
            <a:off x="2377440" y="4178808"/>
            <a:ext cx="1037098" cy="219456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17" name="Text 15"/>
          <p:cNvSpPr/>
          <p:nvPr/>
        </p:nvSpPr>
        <p:spPr>
          <a:xfrm>
            <a:off x="3505978" y="41056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44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77440" y="4617720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4617720"/>
            <a:ext cx="573133" cy="219456"/>
          </a:xfrm>
          <a:prstGeom prst="rect">
            <a:avLst/>
          </a:prstGeom>
          <a:solidFill>
            <a:srgbClr val="E08AA8"/>
          </a:solidFill>
          <a:ln/>
        </p:spPr>
      </p:sp>
      <p:sp>
        <p:nvSpPr>
          <p:cNvPr id="21" name="Text 19"/>
          <p:cNvSpPr/>
          <p:nvPr/>
        </p:nvSpPr>
        <p:spPr>
          <a:xfrm>
            <a:off x="3042013" y="4544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377440" y="5056632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24" name="Shape 22"/>
          <p:cNvSpPr/>
          <p:nvPr/>
        </p:nvSpPr>
        <p:spPr>
          <a:xfrm>
            <a:off x="2377440" y="5056632"/>
            <a:ext cx="313858" cy="219456"/>
          </a:xfrm>
          <a:prstGeom prst="rect">
            <a:avLst/>
          </a:prstGeom>
          <a:solidFill>
            <a:srgbClr val="9B8CE0"/>
          </a:solidFill>
          <a:ln/>
        </p:spPr>
      </p:sp>
      <p:sp>
        <p:nvSpPr>
          <p:cNvPr id="25" name="Text 23"/>
          <p:cNvSpPr/>
          <p:nvPr/>
        </p:nvSpPr>
        <p:spPr>
          <a:xfrm>
            <a:off x="2782738" y="4983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422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377440" y="5495544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28" name="Shape 26"/>
          <p:cNvSpPr/>
          <p:nvPr/>
        </p:nvSpPr>
        <p:spPr>
          <a:xfrm>
            <a:off x="2377440" y="5495544"/>
            <a:ext cx="300212" cy="219456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29" name="Text 27"/>
          <p:cNvSpPr/>
          <p:nvPr/>
        </p:nvSpPr>
        <p:spPr>
          <a:xfrm>
            <a:off x="2769092" y="54223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58613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love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77440" y="5934456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32" name="Shape 30"/>
          <p:cNvSpPr/>
          <p:nvPr/>
        </p:nvSpPr>
        <p:spPr>
          <a:xfrm>
            <a:off x="2377440" y="5934456"/>
            <a:ext cx="204690" cy="219456"/>
          </a:xfrm>
          <a:prstGeom prst="rect">
            <a:avLst/>
          </a:prstGeom>
          <a:solidFill>
            <a:srgbClr val="E26D5C"/>
          </a:solidFill>
          <a:ln/>
        </p:spPr>
      </p:sp>
      <p:sp>
        <p:nvSpPr>
          <p:cNvPr id="33" name="Text 31"/>
          <p:cNvSpPr/>
          <p:nvPr/>
        </p:nvSpPr>
        <p:spPr>
          <a:xfrm>
            <a:off x="2673570" y="58613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63002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377440" y="6373368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6373368"/>
            <a:ext cx="204690" cy="219456"/>
          </a:xfrm>
          <a:prstGeom prst="rect">
            <a:avLst/>
          </a:prstGeom>
          <a:solidFill>
            <a:srgbClr val="5FB8E0"/>
          </a:solidFill>
          <a:ln/>
        </p:spPr>
      </p:sp>
      <p:sp>
        <p:nvSpPr>
          <p:cNvPr id="37" name="Text 35"/>
          <p:cNvSpPr/>
          <p:nvPr/>
        </p:nvSpPr>
        <p:spPr>
          <a:xfrm>
            <a:off x="2673570" y="63002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67391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annoyance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377440" y="6812280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40" name="Shape 38"/>
          <p:cNvSpPr/>
          <p:nvPr/>
        </p:nvSpPr>
        <p:spPr>
          <a:xfrm>
            <a:off x="2377440" y="6812280"/>
            <a:ext cx="191044" cy="219456"/>
          </a:xfrm>
          <a:prstGeom prst="rect">
            <a:avLst/>
          </a:prstGeom>
          <a:solidFill>
            <a:srgbClr val="8FA84E"/>
          </a:solidFill>
          <a:ln/>
        </p:spPr>
      </p:sp>
      <p:sp>
        <p:nvSpPr>
          <p:cNvPr id="41" name="Text 39"/>
          <p:cNvSpPr/>
          <p:nvPr/>
        </p:nvSpPr>
        <p:spPr>
          <a:xfrm>
            <a:off x="2659924" y="6739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" y="7178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377440" y="7251192"/>
            <a:ext cx="5349240" cy="219456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44" name="Shape 42"/>
          <p:cNvSpPr/>
          <p:nvPr/>
        </p:nvSpPr>
        <p:spPr>
          <a:xfrm>
            <a:off x="2377440" y="7251192"/>
            <a:ext cx="191044" cy="2194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2659924" y="7178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" y="7818120"/>
            <a:ext cx="7680960" cy="2834640"/>
          </a:xfrm>
          <a:prstGeom prst="roundRect">
            <a:avLst>
              <a:gd name="adj" fmla="val 2581"/>
            </a:avLst>
          </a:prstGeom>
          <a:solidFill>
            <a:srgbClr val="13221D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" y="80741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" y="838504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Partially true.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1051560" y="8933688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dominates at 392 mentions, over 4x the next closest emotion (approval, 96).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051560" y="9418320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reads as a mostly instructional, neutral text, not an emotional one.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51560" y="9902952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Positivity is real here, but it's a minority signal, not the dominant tone.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“Krishna's core message is a call to arms.”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famous framing: Arjuna refuses to fight, and Krishna spends 18 chapters persuading him back onto the battlefield.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577840"/>
            <a:ext cx="7680960" cy="2377440"/>
          </a:xfrm>
          <a:prstGeom prst="roundRect">
            <a:avLst>
              <a:gd name="adj" fmla="val 3077"/>
            </a:avLst>
          </a:prstGeom>
          <a:solidFill>
            <a:srgbClr val="271B10"/>
          </a:solidFill>
          <a:ln w="12700">
            <a:solidFill>
              <a:srgbClr val="433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 VERIFIED LIVE LINK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6217920"/>
            <a:ext cx="7040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“...though the text is absolutely a call to war, it follows this call to war by prescribing a particular disposition and conduct...”</a:t>
            </a:r>
            <a:endParaRPr lang="en-US" sz="14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51560" y="74523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blogs.icrc.org/bhagavad-gita-ethics-war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75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Countless summaries reduce the Gita to “Krishna convinces Arjuna to fight,” a war speech dressed in philosophy.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9601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WHAT DOES THE DATA SAY?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measurement: if this is a war rally, look at the words actually used.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VERSE SHARE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788920"/>
            <a:ext cx="6190854" cy="457200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Krishna 80.6%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22374" y="2788920"/>
            <a:ext cx="952439" cy="457200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0" name="Text 8"/>
          <p:cNvSpPr/>
          <p:nvPr/>
        </p:nvSpPr>
        <p:spPr>
          <a:xfrm>
            <a:off x="5230734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Arjuna 12.4%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 / REAL VALUES FROM YOUR NOTEBOOK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KRISHNA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91640" y="4558284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1640" y="4558284"/>
            <a:ext cx="2377440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45262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476402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4796028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1640" y="4796028"/>
            <a:ext cx="2035089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476402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500176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91640" y="5033772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1640" y="5033772"/>
            <a:ext cx="1806854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500176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523951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supreme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91640" y="5271516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1640" y="5271516"/>
            <a:ext cx="1730776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523951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547725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5509260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1640" y="5509260"/>
            <a:ext cx="1654698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547725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beings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91640" y="5747004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1640" y="5747004"/>
            <a:ext cx="1502542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57150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" y="595274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91640" y="5984748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39" name="Shape 37"/>
          <p:cNvSpPr/>
          <p:nvPr/>
        </p:nvSpPr>
        <p:spPr>
          <a:xfrm>
            <a:off x="1691640" y="5984748"/>
            <a:ext cx="1426464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0" y="595274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" y="619048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91640" y="6222492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43" name="Shape 41"/>
          <p:cNvSpPr/>
          <p:nvPr/>
        </p:nvSpPr>
        <p:spPr>
          <a:xfrm>
            <a:off x="1691640" y="6222492"/>
            <a:ext cx="1426464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0" y="619048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642823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91640" y="6460236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47" name="Shape 45"/>
          <p:cNvSpPr/>
          <p:nvPr/>
        </p:nvSpPr>
        <p:spPr>
          <a:xfrm>
            <a:off x="1691640" y="6460236"/>
            <a:ext cx="1293327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0" y="64282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" y="666597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91640" y="6697980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51" name="Shape 49"/>
          <p:cNvSpPr/>
          <p:nvPr/>
        </p:nvSpPr>
        <p:spPr>
          <a:xfrm>
            <a:off x="1691640" y="6697980"/>
            <a:ext cx="1198230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0" y="666597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" y="690372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91640" y="6935724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55" name="Shape 53"/>
          <p:cNvSpPr/>
          <p:nvPr/>
        </p:nvSpPr>
        <p:spPr>
          <a:xfrm>
            <a:off x="1691640" y="6935724"/>
            <a:ext cx="1198230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56" name="Text 54"/>
          <p:cNvSpPr/>
          <p:nvPr/>
        </p:nvSpPr>
        <p:spPr>
          <a:xfrm>
            <a:off x="4114800" y="69037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1520" y="714146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sacrifice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91640" y="7173468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59" name="Shape 57"/>
          <p:cNvSpPr/>
          <p:nvPr/>
        </p:nvSpPr>
        <p:spPr>
          <a:xfrm>
            <a:off x="1691640" y="7173468"/>
            <a:ext cx="1198230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60" name="Text 58"/>
          <p:cNvSpPr/>
          <p:nvPr/>
        </p:nvSpPr>
        <p:spPr>
          <a:xfrm>
            <a:off x="4114800" y="714146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1520" y="737920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karma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91640" y="7411212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63" name="Shape 61"/>
          <p:cNvSpPr/>
          <p:nvPr/>
        </p:nvSpPr>
        <p:spPr>
          <a:xfrm>
            <a:off x="1691640" y="7411212"/>
            <a:ext cx="1160191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64" name="Text 62"/>
          <p:cNvSpPr/>
          <p:nvPr/>
        </p:nvSpPr>
        <p:spPr>
          <a:xfrm>
            <a:off x="4114800" y="737920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1520" y="761695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divine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691640" y="7648956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67" name="Shape 65"/>
          <p:cNvSpPr/>
          <p:nvPr/>
        </p:nvSpPr>
        <p:spPr>
          <a:xfrm>
            <a:off x="1691640" y="7648956"/>
            <a:ext cx="1141171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68" name="Text 66"/>
          <p:cNvSpPr/>
          <p:nvPr/>
        </p:nvSpPr>
        <p:spPr>
          <a:xfrm>
            <a:off x="4114800" y="761695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31520" y="785469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691640" y="7886700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71" name="Shape 69"/>
          <p:cNvSpPr/>
          <p:nvPr/>
        </p:nvSpPr>
        <p:spPr>
          <a:xfrm>
            <a:off x="1691640" y="7886700"/>
            <a:ext cx="1027054" cy="146304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72" name="Text 70"/>
          <p:cNvSpPr/>
          <p:nvPr/>
        </p:nvSpPr>
        <p:spPr>
          <a:xfrm>
            <a:off x="4114800" y="785469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709160" y="41605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ARJUNA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09160" y="452628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669280" y="4558284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76" name="Shape 74"/>
          <p:cNvSpPr/>
          <p:nvPr/>
        </p:nvSpPr>
        <p:spPr>
          <a:xfrm>
            <a:off x="5669280" y="4558284"/>
            <a:ext cx="2377440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77" name="Text 75"/>
          <p:cNvSpPr/>
          <p:nvPr/>
        </p:nvSpPr>
        <p:spPr>
          <a:xfrm>
            <a:off x="8092440" y="45262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709160" y="476402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yoga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669280" y="4796028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80" name="Shape 78"/>
          <p:cNvSpPr/>
          <p:nvPr/>
        </p:nvSpPr>
        <p:spPr>
          <a:xfrm>
            <a:off x="5669280" y="4796028"/>
            <a:ext cx="2377440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81" name="Text 79"/>
          <p:cNvSpPr/>
          <p:nvPr/>
        </p:nvSpPr>
        <p:spPr>
          <a:xfrm>
            <a:off x="8092440" y="476402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709160" y="500176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asked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669280" y="5033772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84" name="Shape 82"/>
          <p:cNvSpPr/>
          <p:nvPr/>
        </p:nvSpPr>
        <p:spPr>
          <a:xfrm>
            <a:off x="5669280" y="5033772"/>
            <a:ext cx="2060448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85" name="Text 83"/>
          <p:cNvSpPr/>
          <p:nvPr/>
        </p:nvSpPr>
        <p:spPr>
          <a:xfrm>
            <a:off x="8092440" y="500176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709160" y="523951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supreme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669280" y="5271516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88" name="Shape 86"/>
          <p:cNvSpPr/>
          <p:nvPr/>
        </p:nvSpPr>
        <p:spPr>
          <a:xfrm>
            <a:off x="5669280" y="5271516"/>
            <a:ext cx="2060448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89" name="Text 87"/>
          <p:cNvSpPr/>
          <p:nvPr/>
        </p:nvSpPr>
        <p:spPr>
          <a:xfrm>
            <a:off x="8092440" y="523951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709160" y="547725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divine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669280" y="5509260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92" name="Shape 90"/>
          <p:cNvSpPr/>
          <p:nvPr/>
        </p:nvSpPr>
        <p:spPr>
          <a:xfrm>
            <a:off x="5669280" y="5509260"/>
            <a:ext cx="1901952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93" name="Text 91"/>
          <p:cNvSpPr/>
          <p:nvPr/>
        </p:nvSpPr>
        <p:spPr>
          <a:xfrm>
            <a:off x="8092440" y="547725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709160" y="571500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669280" y="5747004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96" name="Shape 94"/>
          <p:cNvSpPr/>
          <p:nvPr/>
        </p:nvSpPr>
        <p:spPr>
          <a:xfrm>
            <a:off x="5669280" y="5747004"/>
            <a:ext cx="1901952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97" name="Text 95"/>
          <p:cNvSpPr/>
          <p:nvPr/>
        </p:nvSpPr>
        <p:spPr>
          <a:xfrm>
            <a:off x="8092440" y="57150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4709160" y="595274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5669280" y="5984748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00" name="Shape 98"/>
          <p:cNvSpPr/>
          <p:nvPr/>
        </p:nvSpPr>
        <p:spPr>
          <a:xfrm>
            <a:off x="5669280" y="5984748"/>
            <a:ext cx="1584960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01" name="Text 99"/>
          <p:cNvSpPr/>
          <p:nvPr/>
        </p:nvSpPr>
        <p:spPr>
          <a:xfrm>
            <a:off x="8092440" y="595274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709160" y="619048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669280" y="6222492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669280" y="6222492"/>
            <a:ext cx="1426464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05" name="Text 103"/>
          <p:cNvSpPr/>
          <p:nvPr/>
        </p:nvSpPr>
        <p:spPr>
          <a:xfrm>
            <a:off x="8092440" y="619048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4709160" y="642823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sannyaas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669280" y="6460236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669280" y="6460236"/>
            <a:ext cx="1267968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09" name="Text 107"/>
          <p:cNvSpPr/>
          <p:nvPr/>
        </p:nvSpPr>
        <p:spPr>
          <a:xfrm>
            <a:off x="8092440" y="64282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4709160" y="666597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fight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669280" y="6697980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669280" y="6697980"/>
            <a:ext cx="1109472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13" name="Text 111"/>
          <p:cNvSpPr/>
          <p:nvPr/>
        </p:nvSpPr>
        <p:spPr>
          <a:xfrm>
            <a:off x="8092440" y="666597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709160" y="690372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669280" y="6935724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669280" y="6935724"/>
            <a:ext cx="1109472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17" name="Text 115"/>
          <p:cNvSpPr/>
          <p:nvPr/>
        </p:nvSpPr>
        <p:spPr>
          <a:xfrm>
            <a:off x="8092440" y="69037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4709160" y="714146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5669280" y="7173468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669280" y="7173468"/>
            <a:ext cx="1109472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21" name="Text 119"/>
          <p:cNvSpPr/>
          <p:nvPr/>
        </p:nvSpPr>
        <p:spPr>
          <a:xfrm>
            <a:off x="8092440" y="714146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4709160" y="737920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eternal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5669280" y="7411212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669280" y="7411212"/>
            <a:ext cx="1109472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25" name="Text 123"/>
          <p:cNvSpPr/>
          <p:nvPr/>
        </p:nvSpPr>
        <p:spPr>
          <a:xfrm>
            <a:off x="8092440" y="737920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709160" y="761695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5669280" y="7648956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669280" y="7648956"/>
            <a:ext cx="950976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29" name="Text 127"/>
          <p:cNvSpPr/>
          <p:nvPr/>
        </p:nvSpPr>
        <p:spPr>
          <a:xfrm>
            <a:off x="8092440" y="761695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4709160" y="785469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669280" y="7886700"/>
            <a:ext cx="2377440" cy="146304"/>
          </a:xfrm>
          <a:prstGeom prst="rect">
            <a:avLst/>
          </a:prstGeom>
          <a:solidFill>
            <a:srgbClr val="13221D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669280" y="7886700"/>
            <a:ext cx="950976" cy="146304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133" name="Text 131"/>
          <p:cNvSpPr/>
          <p:nvPr/>
        </p:nvSpPr>
        <p:spPr>
          <a:xfrm>
            <a:off x="8092440" y="785469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31520" y="8275320"/>
            <a:ext cx="7680960" cy="2468880"/>
          </a:xfrm>
          <a:prstGeom prst="roundRect">
            <a:avLst>
              <a:gd name="adj" fmla="val 2963"/>
            </a:avLst>
          </a:prstGeom>
          <a:solidFill>
            <a:srgbClr val="13221D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51560" y="85313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1051560" y="884224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False, by vocabulary.</a:t>
            </a:r>
            <a:endParaRPr lang="en-US" sz="1900" dirty="0"/>
          </a:p>
        </p:txBody>
      </p:sp>
      <p:sp>
        <p:nvSpPr>
          <p:cNvPr id="137" name="Text 135"/>
          <p:cNvSpPr/>
          <p:nvPr/>
        </p:nvSpPr>
        <p:spPr>
          <a:xfrm>
            <a:off x="1051560" y="9390888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Krishna carries 80.6% of the text, so his words are effectively its dominant voice.</a:t>
            </a:r>
            <a:endParaRPr lang="en-US" sz="1350" dirty="0"/>
          </a:p>
        </p:txBody>
      </p:sp>
      <p:sp>
        <p:nvSpPr>
          <p:cNvPr id="138" name="Text 136"/>
          <p:cNvSpPr/>
          <p:nvPr/>
        </p:nvSpPr>
        <p:spPr>
          <a:xfrm>
            <a:off x="1051560" y="9875520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one war word cracks his top 15: no fight, no battle, no enemy.</a:t>
            </a:r>
            <a:endParaRPr lang="en-US" sz="1350" dirty="0"/>
          </a:p>
        </p:txBody>
      </p:sp>
      <p:sp>
        <p:nvSpPr>
          <p:cNvPr id="139" name="Text 137"/>
          <p:cNvSpPr/>
          <p:nvPr/>
        </p:nvSpPr>
        <p:spPr>
          <a:xfrm>
            <a:off x="1051560" y="10360152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World, mind, actions, soul, nature, knowledge: metaphysics, not a battle cry.</a:t>
            </a:r>
            <a:endParaRPr lang="en-US" sz="1350" dirty="0"/>
          </a:p>
        </p:txBody>
      </p:sp>
      <p:sp>
        <p:nvSpPr>
          <p:cNvPr id="140" name="Text 138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“Chapter 11 is Krishna's scariest, most commanding moment.”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"Now I am become Death" chapter, Krishna's terrifying cosmic form, the single most famous passage in the whole text.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577840"/>
            <a:ext cx="7680960" cy="2286000"/>
          </a:xfrm>
          <a:prstGeom prst="roundRect">
            <a:avLst>
              <a:gd name="adj" fmla="val 3200"/>
            </a:avLst>
          </a:prstGeom>
          <a:solidFill>
            <a:srgbClr val="271B10"/>
          </a:solidFill>
          <a:ln w="12700">
            <a:solidFill>
              <a:srgbClr val="433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 VERIFIED LIVE LINK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62179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quotation introduced millions in the West to Krishna's most terrifying self-revelation.”</a:t>
            </a:r>
            <a:endParaRPr lang="en-US" sz="14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51560" y="73609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srimadgita.com/blog/verse-1133-time-destroyer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092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Oppenheimer quoted this exact chapter after Trinity. If any moment defines Krishna as overwhelming, it's this one.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9509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WHAT DOES THE DATA SAY?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peaks in his most terrifying chapter.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KRISHNA'S EMOTIONAL ARC / REAL VALUES FROM YOUR NOTEBOOK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83080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173045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563009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952974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342939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732904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122868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512833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902798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292762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682727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072692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462656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852621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242586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632551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022515" y="3099816"/>
            <a:ext cx="38996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31520" y="333756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83080" y="3337560"/>
            <a:ext cx="371677" cy="377952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2173045" y="3337560"/>
            <a:ext cx="371677" cy="377952"/>
          </a:xfrm>
          <a:prstGeom prst="rect">
            <a:avLst/>
          </a:prstGeom>
          <a:solidFill>
            <a:srgbClr val="75542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3045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.15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2563009" y="3337560"/>
            <a:ext cx="371677" cy="377952"/>
          </a:xfrm>
          <a:prstGeom prst="rect">
            <a:avLst/>
          </a:prstGeom>
          <a:solidFill>
            <a:srgbClr val="75542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3009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.15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2952974" y="3337560"/>
            <a:ext cx="371677" cy="377952"/>
          </a:xfrm>
          <a:prstGeom prst="rect">
            <a:avLst/>
          </a:prstGeom>
          <a:solidFill>
            <a:srgbClr val="9A6C2C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2974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.17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3342939" y="3337560"/>
            <a:ext cx="371677" cy="377952"/>
          </a:xfrm>
          <a:prstGeom prst="rect">
            <a:avLst/>
          </a:prstGeom>
          <a:solidFill>
            <a:srgbClr val="E39C3A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2939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.21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3732904" y="3337560"/>
            <a:ext cx="371677" cy="377952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2904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4122868" y="3337560"/>
            <a:ext cx="371677" cy="377952"/>
          </a:xfrm>
          <a:prstGeom prst="rect">
            <a:avLst/>
          </a:prstGeom>
          <a:solidFill>
            <a:srgbClr val="3E301B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22868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.12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4512833" y="3337560"/>
            <a:ext cx="371677" cy="377952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12833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.18</a:t>
            </a:r>
            <a:endParaRPr lang="en-US" sz="630" dirty="0"/>
          </a:p>
        </p:txBody>
      </p:sp>
      <p:sp>
        <p:nvSpPr>
          <p:cNvPr id="40" name="Shape 38"/>
          <p:cNvSpPr/>
          <p:nvPr/>
        </p:nvSpPr>
        <p:spPr>
          <a:xfrm>
            <a:off x="4902798" y="3337560"/>
            <a:ext cx="371677" cy="377952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2798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5292762" y="3337560"/>
            <a:ext cx="371677" cy="377952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92762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5682727" y="3337560"/>
            <a:ext cx="371677" cy="377952"/>
          </a:xfrm>
          <a:prstGeom prst="rect">
            <a:avLst/>
          </a:prstGeom>
          <a:solidFill>
            <a:srgbClr val="876029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2727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.16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6072692" y="3337560"/>
            <a:ext cx="371677" cy="377952"/>
          </a:xfrm>
          <a:prstGeom prst="rect">
            <a:avLst/>
          </a:prstGeom>
          <a:solidFill>
            <a:srgbClr val="3E301B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72692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.12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6462656" y="3337560"/>
            <a:ext cx="371677" cy="377952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62656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630" dirty="0"/>
          </a:p>
        </p:txBody>
      </p:sp>
      <p:sp>
        <p:nvSpPr>
          <p:cNvPr id="50" name="Shape 48"/>
          <p:cNvSpPr/>
          <p:nvPr/>
        </p:nvSpPr>
        <p:spPr>
          <a:xfrm>
            <a:off x="6852621" y="3337560"/>
            <a:ext cx="371677" cy="377952"/>
          </a:xfrm>
          <a:prstGeom prst="rect">
            <a:avLst/>
          </a:prstGeom>
          <a:solidFill>
            <a:srgbClr val="9A6C2C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2621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.17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7242586" y="3337560"/>
            <a:ext cx="371677" cy="377952"/>
          </a:xfrm>
          <a:prstGeom prst="rect">
            <a:avLst/>
          </a:prstGeom>
          <a:solidFill>
            <a:srgbClr val="63482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586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.14</a:t>
            </a:r>
            <a:endParaRPr lang="en-US" sz="630" dirty="0"/>
          </a:p>
        </p:txBody>
      </p:sp>
      <p:sp>
        <p:nvSpPr>
          <p:cNvPr id="54" name="Shape 52"/>
          <p:cNvSpPr/>
          <p:nvPr/>
        </p:nvSpPr>
        <p:spPr>
          <a:xfrm>
            <a:off x="7632551" y="3337560"/>
            <a:ext cx="371677" cy="37795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32551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.22</a:t>
            </a:r>
            <a:endParaRPr lang="en-US" sz="630" dirty="0"/>
          </a:p>
        </p:txBody>
      </p:sp>
      <p:sp>
        <p:nvSpPr>
          <p:cNvPr id="56" name="Shape 54"/>
          <p:cNvSpPr/>
          <p:nvPr/>
        </p:nvSpPr>
        <p:spPr>
          <a:xfrm>
            <a:off x="8022515" y="3337560"/>
            <a:ext cx="371677" cy="377952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22515" y="33375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.18</a:t>
            </a:r>
            <a:endParaRPr lang="en-US" sz="630" dirty="0"/>
          </a:p>
        </p:txBody>
      </p:sp>
      <p:sp>
        <p:nvSpPr>
          <p:cNvPr id="58" name="Text 56"/>
          <p:cNvSpPr/>
          <p:nvPr/>
        </p:nvSpPr>
        <p:spPr>
          <a:xfrm>
            <a:off x="731520" y="373380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admiration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783080" y="3733800"/>
            <a:ext cx="371677" cy="377952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83080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61" name="Shape 59"/>
          <p:cNvSpPr/>
          <p:nvPr/>
        </p:nvSpPr>
        <p:spPr>
          <a:xfrm>
            <a:off x="2173045" y="3733800"/>
            <a:ext cx="371677" cy="377952"/>
          </a:xfrm>
          <a:prstGeom prst="rect">
            <a:avLst/>
          </a:prstGeom>
          <a:solidFill>
            <a:srgbClr val="251F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73045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2563009" y="3733800"/>
            <a:ext cx="371677" cy="377952"/>
          </a:xfrm>
          <a:prstGeom prst="rect">
            <a:avLst/>
          </a:prstGeom>
          <a:solidFill>
            <a:srgbClr val="261F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3009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.08</a:t>
            </a:r>
            <a:endParaRPr lang="en-US" sz="630" dirty="0"/>
          </a:p>
        </p:txBody>
      </p:sp>
      <p:sp>
        <p:nvSpPr>
          <p:cNvPr id="65" name="Shape 63"/>
          <p:cNvSpPr/>
          <p:nvPr/>
        </p:nvSpPr>
        <p:spPr>
          <a:xfrm>
            <a:off x="2952974" y="3733800"/>
            <a:ext cx="371677" cy="377952"/>
          </a:xfrm>
          <a:prstGeom prst="rect">
            <a:avLst/>
          </a:prstGeom>
          <a:solidFill>
            <a:srgbClr val="2A231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52974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3342939" y="3733800"/>
            <a:ext cx="371677" cy="377952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42939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630" dirty="0"/>
          </a:p>
        </p:txBody>
      </p:sp>
      <p:sp>
        <p:nvSpPr>
          <p:cNvPr id="69" name="Shape 67"/>
          <p:cNvSpPr/>
          <p:nvPr/>
        </p:nvSpPr>
        <p:spPr>
          <a:xfrm>
            <a:off x="3732904" y="3733800"/>
            <a:ext cx="371677" cy="377952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32904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630" dirty="0"/>
          </a:p>
        </p:txBody>
      </p:sp>
      <p:sp>
        <p:nvSpPr>
          <p:cNvPr id="71" name="Shape 69"/>
          <p:cNvSpPr/>
          <p:nvPr/>
        </p:nvSpPr>
        <p:spPr>
          <a:xfrm>
            <a:off x="4122868" y="3733800"/>
            <a:ext cx="371677" cy="377952"/>
          </a:xfrm>
          <a:prstGeom prst="rect">
            <a:avLst/>
          </a:prstGeom>
          <a:solidFill>
            <a:srgbClr val="22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22868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73" name="Shape 71"/>
          <p:cNvSpPr/>
          <p:nvPr/>
        </p:nvSpPr>
        <p:spPr>
          <a:xfrm>
            <a:off x="4512833" y="3733800"/>
            <a:ext cx="371677" cy="377952"/>
          </a:xfrm>
          <a:prstGeom prst="rect">
            <a:avLst/>
          </a:prstGeom>
          <a:solidFill>
            <a:srgbClr val="261F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12833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.08</a:t>
            </a:r>
            <a:endParaRPr lang="en-US" sz="630" dirty="0"/>
          </a:p>
        </p:txBody>
      </p:sp>
      <p:sp>
        <p:nvSpPr>
          <p:cNvPr id="75" name="Shape 73"/>
          <p:cNvSpPr/>
          <p:nvPr/>
        </p:nvSpPr>
        <p:spPr>
          <a:xfrm>
            <a:off x="4902798" y="3733800"/>
            <a:ext cx="371677" cy="377952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02798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.18</a:t>
            </a:r>
            <a:endParaRPr lang="en-US" sz="630" dirty="0"/>
          </a:p>
        </p:txBody>
      </p:sp>
      <p:sp>
        <p:nvSpPr>
          <p:cNvPr id="77" name="Shape 75"/>
          <p:cNvSpPr/>
          <p:nvPr/>
        </p:nvSpPr>
        <p:spPr>
          <a:xfrm>
            <a:off x="5292762" y="3733800"/>
            <a:ext cx="371677" cy="377952"/>
          </a:xfrm>
          <a:prstGeom prst="rect">
            <a:avLst/>
          </a:prstGeom>
          <a:solidFill>
            <a:srgbClr val="24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92762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79" name="Shape 77"/>
          <p:cNvSpPr/>
          <p:nvPr/>
        </p:nvSpPr>
        <p:spPr>
          <a:xfrm>
            <a:off x="5682727" y="3733800"/>
            <a:ext cx="371677" cy="377952"/>
          </a:xfrm>
          <a:prstGeom prst="rect">
            <a:avLst/>
          </a:prstGeom>
          <a:solidFill>
            <a:srgbClr val="29221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82727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.09</a:t>
            </a:r>
            <a:endParaRPr lang="en-US" sz="630" dirty="0"/>
          </a:p>
        </p:txBody>
      </p:sp>
      <p:sp>
        <p:nvSpPr>
          <p:cNvPr id="81" name="Shape 79"/>
          <p:cNvSpPr/>
          <p:nvPr/>
        </p:nvSpPr>
        <p:spPr>
          <a:xfrm>
            <a:off x="6072692" y="3733800"/>
            <a:ext cx="371677" cy="37795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72692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83" name="Shape 81"/>
          <p:cNvSpPr/>
          <p:nvPr/>
        </p:nvSpPr>
        <p:spPr>
          <a:xfrm>
            <a:off x="6462656" y="3733800"/>
            <a:ext cx="371677" cy="377952"/>
          </a:xfrm>
          <a:prstGeom prst="rect">
            <a:avLst/>
          </a:prstGeom>
          <a:solidFill>
            <a:srgbClr val="2A221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62656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</a:t>
            </a:r>
            <a:endParaRPr lang="en-US" sz="630" dirty="0"/>
          </a:p>
        </p:txBody>
      </p:sp>
      <p:sp>
        <p:nvSpPr>
          <p:cNvPr id="85" name="Shape 83"/>
          <p:cNvSpPr/>
          <p:nvPr/>
        </p:nvSpPr>
        <p:spPr>
          <a:xfrm>
            <a:off x="6852621" y="3733800"/>
            <a:ext cx="371677" cy="377952"/>
          </a:xfrm>
          <a:prstGeom prst="rect">
            <a:avLst/>
          </a:prstGeom>
          <a:solidFill>
            <a:srgbClr val="876029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52621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.16</a:t>
            </a:r>
            <a:endParaRPr lang="en-US" sz="630" dirty="0"/>
          </a:p>
        </p:txBody>
      </p:sp>
      <p:sp>
        <p:nvSpPr>
          <p:cNvPr id="87" name="Shape 85"/>
          <p:cNvSpPr/>
          <p:nvPr/>
        </p:nvSpPr>
        <p:spPr>
          <a:xfrm>
            <a:off x="7242586" y="3733800"/>
            <a:ext cx="371677" cy="377952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42586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630" dirty="0"/>
          </a:p>
        </p:txBody>
      </p:sp>
      <p:sp>
        <p:nvSpPr>
          <p:cNvPr id="89" name="Shape 87"/>
          <p:cNvSpPr/>
          <p:nvPr/>
        </p:nvSpPr>
        <p:spPr>
          <a:xfrm>
            <a:off x="7632551" y="3733800"/>
            <a:ext cx="371677" cy="377952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32551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630" dirty="0"/>
          </a:p>
        </p:txBody>
      </p:sp>
      <p:sp>
        <p:nvSpPr>
          <p:cNvPr id="91" name="Shape 89"/>
          <p:cNvSpPr/>
          <p:nvPr/>
        </p:nvSpPr>
        <p:spPr>
          <a:xfrm>
            <a:off x="8022515" y="3733800"/>
            <a:ext cx="371677" cy="377952"/>
          </a:xfrm>
          <a:prstGeom prst="rect">
            <a:avLst/>
          </a:prstGeom>
          <a:solidFill>
            <a:srgbClr val="2A231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22515" y="37338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</a:t>
            </a:r>
            <a:endParaRPr lang="en-US" sz="630" dirty="0"/>
          </a:p>
        </p:txBody>
      </p:sp>
      <p:sp>
        <p:nvSpPr>
          <p:cNvPr id="93" name="Text 91"/>
          <p:cNvSpPr/>
          <p:nvPr/>
        </p:nvSpPr>
        <p:spPr>
          <a:xfrm>
            <a:off x="731520" y="413004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caring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783080" y="4130040"/>
            <a:ext cx="371677" cy="377952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783080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630" dirty="0"/>
          </a:p>
        </p:txBody>
      </p:sp>
      <p:sp>
        <p:nvSpPr>
          <p:cNvPr id="96" name="Shape 94"/>
          <p:cNvSpPr/>
          <p:nvPr/>
        </p:nvSpPr>
        <p:spPr>
          <a:xfrm>
            <a:off x="2173045" y="4130040"/>
            <a:ext cx="371677" cy="377952"/>
          </a:xfrm>
          <a:prstGeom prst="rect">
            <a:avLst/>
          </a:prstGeom>
          <a:solidFill>
            <a:srgbClr val="221C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173045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98" name="Shape 96"/>
          <p:cNvSpPr/>
          <p:nvPr/>
        </p:nvSpPr>
        <p:spPr>
          <a:xfrm>
            <a:off x="2563009" y="413004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63009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00" name="Shape 98"/>
          <p:cNvSpPr/>
          <p:nvPr/>
        </p:nvSpPr>
        <p:spPr>
          <a:xfrm>
            <a:off x="2952974" y="4130040"/>
            <a:ext cx="371677" cy="377952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952974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102" name="Shape 100"/>
          <p:cNvSpPr/>
          <p:nvPr/>
        </p:nvSpPr>
        <p:spPr>
          <a:xfrm>
            <a:off x="3342939" y="4130040"/>
            <a:ext cx="371677" cy="377952"/>
          </a:xfrm>
          <a:prstGeom prst="rect">
            <a:avLst/>
          </a:prstGeom>
          <a:solidFill>
            <a:srgbClr val="22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42939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104" name="Shape 102"/>
          <p:cNvSpPr/>
          <p:nvPr/>
        </p:nvSpPr>
        <p:spPr>
          <a:xfrm>
            <a:off x="3732904" y="4130040"/>
            <a:ext cx="371677" cy="377952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32904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06" name="Shape 104"/>
          <p:cNvSpPr/>
          <p:nvPr/>
        </p:nvSpPr>
        <p:spPr>
          <a:xfrm>
            <a:off x="4122868" y="4130040"/>
            <a:ext cx="371677" cy="377952"/>
          </a:xfrm>
          <a:prstGeom prst="rect">
            <a:avLst/>
          </a:prstGeom>
          <a:solidFill>
            <a:srgbClr val="282116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122868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.09</a:t>
            </a:r>
            <a:endParaRPr lang="en-US" sz="630" dirty="0"/>
          </a:p>
        </p:txBody>
      </p:sp>
      <p:sp>
        <p:nvSpPr>
          <p:cNvPr id="108" name="Shape 106"/>
          <p:cNvSpPr/>
          <p:nvPr/>
        </p:nvSpPr>
        <p:spPr>
          <a:xfrm>
            <a:off x="4512833" y="4130040"/>
            <a:ext cx="371677" cy="377952"/>
          </a:xfrm>
          <a:prstGeom prst="rect">
            <a:avLst/>
          </a:prstGeom>
          <a:solidFill>
            <a:srgbClr val="3E301B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12833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.12</a:t>
            </a:r>
            <a:endParaRPr lang="en-US" sz="630" dirty="0"/>
          </a:p>
        </p:txBody>
      </p:sp>
      <p:sp>
        <p:nvSpPr>
          <p:cNvPr id="110" name="Shape 108"/>
          <p:cNvSpPr/>
          <p:nvPr/>
        </p:nvSpPr>
        <p:spPr>
          <a:xfrm>
            <a:off x="4902798" y="4130040"/>
            <a:ext cx="371677" cy="377952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902798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112" name="Shape 110"/>
          <p:cNvSpPr/>
          <p:nvPr/>
        </p:nvSpPr>
        <p:spPr>
          <a:xfrm>
            <a:off x="5292762" y="4130040"/>
            <a:ext cx="371677" cy="377952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292762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.18</a:t>
            </a:r>
            <a:endParaRPr lang="en-US" sz="630" dirty="0"/>
          </a:p>
        </p:txBody>
      </p:sp>
      <p:sp>
        <p:nvSpPr>
          <p:cNvPr id="114" name="Shape 112"/>
          <p:cNvSpPr/>
          <p:nvPr/>
        </p:nvSpPr>
        <p:spPr>
          <a:xfrm>
            <a:off x="5682727" y="4130040"/>
            <a:ext cx="371677" cy="377952"/>
          </a:xfrm>
          <a:prstGeom prst="rect">
            <a:avLst/>
          </a:prstGeom>
          <a:solidFill>
            <a:srgbClr val="75542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682727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.15</a:t>
            </a:r>
            <a:endParaRPr lang="en-US" sz="630" dirty="0"/>
          </a:p>
        </p:txBody>
      </p:sp>
      <p:sp>
        <p:nvSpPr>
          <p:cNvPr id="116" name="Shape 114"/>
          <p:cNvSpPr/>
          <p:nvPr/>
        </p:nvSpPr>
        <p:spPr>
          <a:xfrm>
            <a:off x="6072692" y="413004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072692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18" name="Shape 116"/>
          <p:cNvSpPr/>
          <p:nvPr/>
        </p:nvSpPr>
        <p:spPr>
          <a:xfrm>
            <a:off x="6462656" y="413004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462656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20" name="Shape 118"/>
          <p:cNvSpPr/>
          <p:nvPr/>
        </p:nvSpPr>
        <p:spPr>
          <a:xfrm>
            <a:off x="6852621" y="4130040"/>
            <a:ext cx="371677" cy="377952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852621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22" name="Shape 120"/>
          <p:cNvSpPr/>
          <p:nvPr/>
        </p:nvSpPr>
        <p:spPr>
          <a:xfrm>
            <a:off x="7242586" y="4130040"/>
            <a:ext cx="371677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242586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24" name="Shape 122"/>
          <p:cNvSpPr/>
          <p:nvPr/>
        </p:nvSpPr>
        <p:spPr>
          <a:xfrm>
            <a:off x="7632551" y="413004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632551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26" name="Shape 124"/>
          <p:cNvSpPr/>
          <p:nvPr/>
        </p:nvSpPr>
        <p:spPr>
          <a:xfrm>
            <a:off x="8022515" y="4130040"/>
            <a:ext cx="371677" cy="377952"/>
          </a:xfrm>
          <a:prstGeom prst="rect">
            <a:avLst/>
          </a:prstGeom>
          <a:solidFill>
            <a:srgbClr val="282116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022515" y="41300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.09</a:t>
            </a:r>
            <a:endParaRPr lang="en-US" sz="630" dirty="0"/>
          </a:p>
        </p:txBody>
      </p:sp>
      <p:sp>
        <p:nvSpPr>
          <p:cNvPr id="128" name="Text 126"/>
          <p:cNvSpPr/>
          <p:nvPr/>
        </p:nvSpPr>
        <p:spPr>
          <a:xfrm>
            <a:off x="731520" y="452628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realization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1783080" y="452628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783080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31" name="Shape 129"/>
          <p:cNvSpPr/>
          <p:nvPr/>
        </p:nvSpPr>
        <p:spPr>
          <a:xfrm>
            <a:off x="2173045" y="452628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173045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33" name="Shape 131"/>
          <p:cNvSpPr/>
          <p:nvPr/>
        </p:nvSpPr>
        <p:spPr>
          <a:xfrm>
            <a:off x="2563009" y="4526280"/>
            <a:ext cx="371677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563009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35" name="Shape 133"/>
          <p:cNvSpPr/>
          <p:nvPr/>
        </p:nvSpPr>
        <p:spPr>
          <a:xfrm>
            <a:off x="2952974" y="4526280"/>
            <a:ext cx="371677" cy="377952"/>
          </a:xfrm>
          <a:prstGeom prst="rect">
            <a:avLst/>
          </a:prstGeom>
          <a:solidFill>
            <a:srgbClr val="262016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952974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.08</a:t>
            </a:r>
            <a:endParaRPr lang="en-US" sz="630" dirty="0"/>
          </a:p>
        </p:txBody>
      </p:sp>
      <p:sp>
        <p:nvSpPr>
          <p:cNvPr id="137" name="Shape 135"/>
          <p:cNvSpPr/>
          <p:nvPr/>
        </p:nvSpPr>
        <p:spPr>
          <a:xfrm>
            <a:off x="3342939" y="4526280"/>
            <a:ext cx="371677" cy="377952"/>
          </a:xfrm>
          <a:prstGeom prst="rect">
            <a:avLst/>
          </a:prstGeom>
          <a:solidFill>
            <a:srgbClr val="1F1A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342939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139" name="Shape 137"/>
          <p:cNvSpPr/>
          <p:nvPr/>
        </p:nvSpPr>
        <p:spPr>
          <a:xfrm>
            <a:off x="3732904" y="4526280"/>
            <a:ext cx="371677" cy="377952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732904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41" name="Shape 139"/>
          <p:cNvSpPr/>
          <p:nvPr/>
        </p:nvSpPr>
        <p:spPr>
          <a:xfrm>
            <a:off x="4122868" y="452628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122868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4512833" y="4526280"/>
            <a:ext cx="371677" cy="377952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512833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145" name="Shape 143"/>
          <p:cNvSpPr/>
          <p:nvPr/>
        </p:nvSpPr>
        <p:spPr>
          <a:xfrm>
            <a:off x="4902798" y="452628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902798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47" name="Shape 145"/>
          <p:cNvSpPr/>
          <p:nvPr/>
        </p:nvSpPr>
        <p:spPr>
          <a:xfrm>
            <a:off x="5292762" y="4526280"/>
            <a:ext cx="371677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292762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49" name="Shape 147"/>
          <p:cNvSpPr/>
          <p:nvPr/>
        </p:nvSpPr>
        <p:spPr>
          <a:xfrm>
            <a:off x="5682727" y="452628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682727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51" name="Shape 149"/>
          <p:cNvSpPr/>
          <p:nvPr/>
        </p:nvSpPr>
        <p:spPr>
          <a:xfrm>
            <a:off x="6072692" y="4526280"/>
            <a:ext cx="371677" cy="377952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072692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153" name="Shape 151"/>
          <p:cNvSpPr/>
          <p:nvPr/>
        </p:nvSpPr>
        <p:spPr>
          <a:xfrm>
            <a:off x="6462656" y="4526280"/>
            <a:ext cx="371677" cy="377952"/>
          </a:xfrm>
          <a:prstGeom prst="rect">
            <a:avLst/>
          </a:prstGeom>
          <a:solidFill>
            <a:srgbClr val="2A231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462656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</a:t>
            </a:r>
            <a:endParaRPr lang="en-US" sz="630" dirty="0"/>
          </a:p>
        </p:txBody>
      </p:sp>
      <p:sp>
        <p:nvSpPr>
          <p:cNvPr id="155" name="Shape 153"/>
          <p:cNvSpPr/>
          <p:nvPr/>
        </p:nvSpPr>
        <p:spPr>
          <a:xfrm>
            <a:off x="6852621" y="4526280"/>
            <a:ext cx="371677" cy="377952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852621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157" name="Shape 155"/>
          <p:cNvSpPr/>
          <p:nvPr/>
        </p:nvSpPr>
        <p:spPr>
          <a:xfrm>
            <a:off x="7242586" y="452628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242586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59" name="Shape 157"/>
          <p:cNvSpPr/>
          <p:nvPr/>
        </p:nvSpPr>
        <p:spPr>
          <a:xfrm>
            <a:off x="7632551" y="4526280"/>
            <a:ext cx="371677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632551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61" name="Shape 159"/>
          <p:cNvSpPr/>
          <p:nvPr/>
        </p:nvSpPr>
        <p:spPr>
          <a:xfrm>
            <a:off x="8022515" y="4526280"/>
            <a:ext cx="371677" cy="377952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022515" y="45262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163" name="Text 161"/>
          <p:cNvSpPr/>
          <p:nvPr/>
        </p:nvSpPr>
        <p:spPr>
          <a:xfrm>
            <a:off x="731520" y="492252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joy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1783080" y="4922520"/>
            <a:ext cx="371677" cy="37795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783080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166" name="Shape 164"/>
          <p:cNvSpPr/>
          <p:nvPr/>
        </p:nvSpPr>
        <p:spPr>
          <a:xfrm>
            <a:off x="2173045" y="4922520"/>
            <a:ext cx="371677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173045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68" name="Shape 166"/>
          <p:cNvSpPr/>
          <p:nvPr/>
        </p:nvSpPr>
        <p:spPr>
          <a:xfrm>
            <a:off x="2563009" y="492252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563009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70" name="Shape 168"/>
          <p:cNvSpPr/>
          <p:nvPr/>
        </p:nvSpPr>
        <p:spPr>
          <a:xfrm>
            <a:off x="2952974" y="4922520"/>
            <a:ext cx="371677" cy="377952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952974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630" dirty="0"/>
          </a:p>
        </p:txBody>
      </p:sp>
      <p:sp>
        <p:nvSpPr>
          <p:cNvPr id="172" name="Shape 170"/>
          <p:cNvSpPr/>
          <p:nvPr/>
        </p:nvSpPr>
        <p:spPr>
          <a:xfrm>
            <a:off x="3342939" y="4922520"/>
            <a:ext cx="371677" cy="377952"/>
          </a:xfrm>
          <a:prstGeom prst="rect">
            <a:avLst/>
          </a:prstGeom>
          <a:solidFill>
            <a:srgbClr val="221C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342939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174" name="Shape 172"/>
          <p:cNvSpPr/>
          <p:nvPr/>
        </p:nvSpPr>
        <p:spPr>
          <a:xfrm>
            <a:off x="3732904" y="492252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732904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76" name="Shape 174"/>
          <p:cNvSpPr/>
          <p:nvPr/>
        </p:nvSpPr>
        <p:spPr>
          <a:xfrm>
            <a:off x="4122868" y="4922520"/>
            <a:ext cx="371677" cy="377952"/>
          </a:xfrm>
          <a:prstGeom prst="rect">
            <a:avLst/>
          </a:prstGeom>
          <a:solidFill>
            <a:srgbClr val="201B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122868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.05</a:t>
            </a:r>
            <a:endParaRPr lang="en-US" sz="630" dirty="0"/>
          </a:p>
        </p:txBody>
      </p:sp>
      <p:sp>
        <p:nvSpPr>
          <p:cNvPr id="178" name="Shape 176"/>
          <p:cNvSpPr/>
          <p:nvPr/>
        </p:nvSpPr>
        <p:spPr>
          <a:xfrm>
            <a:off x="4512833" y="4922520"/>
            <a:ext cx="371677" cy="377952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512833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80" name="Shape 178"/>
          <p:cNvSpPr/>
          <p:nvPr/>
        </p:nvSpPr>
        <p:spPr>
          <a:xfrm>
            <a:off x="4902798" y="492252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902798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82" name="Shape 180"/>
          <p:cNvSpPr/>
          <p:nvPr/>
        </p:nvSpPr>
        <p:spPr>
          <a:xfrm>
            <a:off x="5292762" y="4922520"/>
            <a:ext cx="371677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292762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84" name="Shape 182"/>
          <p:cNvSpPr/>
          <p:nvPr/>
        </p:nvSpPr>
        <p:spPr>
          <a:xfrm>
            <a:off x="5682727" y="492252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5682727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86" name="Shape 184"/>
          <p:cNvSpPr/>
          <p:nvPr/>
        </p:nvSpPr>
        <p:spPr>
          <a:xfrm>
            <a:off x="6072692" y="492252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072692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88" name="Shape 186"/>
          <p:cNvSpPr/>
          <p:nvPr/>
        </p:nvSpPr>
        <p:spPr>
          <a:xfrm>
            <a:off x="6462656" y="4922520"/>
            <a:ext cx="371677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6462656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90" name="Shape 188"/>
          <p:cNvSpPr/>
          <p:nvPr/>
        </p:nvSpPr>
        <p:spPr>
          <a:xfrm>
            <a:off x="6852621" y="4922520"/>
            <a:ext cx="371677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852621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92" name="Shape 190"/>
          <p:cNvSpPr/>
          <p:nvPr/>
        </p:nvSpPr>
        <p:spPr>
          <a:xfrm>
            <a:off x="7242586" y="4922520"/>
            <a:ext cx="371677" cy="377952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242586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194" name="Shape 192"/>
          <p:cNvSpPr/>
          <p:nvPr/>
        </p:nvSpPr>
        <p:spPr>
          <a:xfrm>
            <a:off x="7632551" y="4922520"/>
            <a:ext cx="371677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632551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96" name="Shape 194"/>
          <p:cNvSpPr/>
          <p:nvPr/>
        </p:nvSpPr>
        <p:spPr>
          <a:xfrm>
            <a:off x="8022515" y="4922520"/>
            <a:ext cx="371677" cy="377952"/>
          </a:xfrm>
          <a:prstGeom prst="rect">
            <a:avLst/>
          </a:prstGeom>
          <a:solidFill>
            <a:srgbClr val="241E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8022515" y="492252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198" name="Text 196"/>
          <p:cNvSpPr/>
          <p:nvPr/>
        </p:nvSpPr>
        <p:spPr>
          <a:xfrm>
            <a:off x="731520" y="531876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love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1783080" y="5318760"/>
            <a:ext cx="371677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1783080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01" name="Shape 199"/>
          <p:cNvSpPr/>
          <p:nvPr/>
        </p:nvSpPr>
        <p:spPr>
          <a:xfrm>
            <a:off x="2173045" y="5318760"/>
            <a:ext cx="371677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2173045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03" name="Shape 201"/>
          <p:cNvSpPr/>
          <p:nvPr/>
        </p:nvSpPr>
        <p:spPr>
          <a:xfrm>
            <a:off x="2563009" y="531876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2563009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05" name="Shape 203"/>
          <p:cNvSpPr/>
          <p:nvPr/>
        </p:nvSpPr>
        <p:spPr>
          <a:xfrm>
            <a:off x="2952974" y="531876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952974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07" name="Shape 205"/>
          <p:cNvSpPr/>
          <p:nvPr/>
        </p:nvSpPr>
        <p:spPr>
          <a:xfrm>
            <a:off x="3342939" y="5318760"/>
            <a:ext cx="371677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342939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09" name="Shape 207"/>
          <p:cNvSpPr/>
          <p:nvPr/>
        </p:nvSpPr>
        <p:spPr>
          <a:xfrm>
            <a:off x="3732904" y="531876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3732904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11" name="Shape 209"/>
          <p:cNvSpPr/>
          <p:nvPr/>
        </p:nvSpPr>
        <p:spPr>
          <a:xfrm>
            <a:off x="4122868" y="5318760"/>
            <a:ext cx="371677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4122868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13" name="Shape 211"/>
          <p:cNvSpPr/>
          <p:nvPr/>
        </p:nvSpPr>
        <p:spPr>
          <a:xfrm>
            <a:off x="4512833" y="5318760"/>
            <a:ext cx="371677" cy="377952"/>
          </a:xfrm>
          <a:prstGeom prst="rect">
            <a:avLst/>
          </a:prstGeom>
          <a:solidFill>
            <a:srgbClr val="211C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4512833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.05</a:t>
            </a:r>
            <a:endParaRPr lang="en-US" sz="630" dirty="0"/>
          </a:p>
        </p:txBody>
      </p:sp>
      <p:sp>
        <p:nvSpPr>
          <p:cNvPr id="215" name="Shape 213"/>
          <p:cNvSpPr/>
          <p:nvPr/>
        </p:nvSpPr>
        <p:spPr>
          <a:xfrm>
            <a:off x="4902798" y="5318760"/>
            <a:ext cx="371677" cy="37795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4902798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217" name="Shape 215"/>
          <p:cNvSpPr/>
          <p:nvPr/>
        </p:nvSpPr>
        <p:spPr>
          <a:xfrm>
            <a:off x="5292762" y="5318760"/>
            <a:ext cx="371677" cy="377952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5292762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630" dirty="0"/>
          </a:p>
        </p:txBody>
      </p:sp>
      <p:sp>
        <p:nvSpPr>
          <p:cNvPr id="219" name="Shape 217"/>
          <p:cNvSpPr/>
          <p:nvPr/>
        </p:nvSpPr>
        <p:spPr>
          <a:xfrm>
            <a:off x="5682727" y="5318760"/>
            <a:ext cx="371677" cy="377952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682727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221" name="Shape 219"/>
          <p:cNvSpPr/>
          <p:nvPr/>
        </p:nvSpPr>
        <p:spPr>
          <a:xfrm>
            <a:off x="6072692" y="5318760"/>
            <a:ext cx="371677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072692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23" name="Shape 221"/>
          <p:cNvSpPr/>
          <p:nvPr/>
        </p:nvSpPr>
        <p:spPr>
          <a:xfrm>
            <a:off x="6462656" y="5318760"/>
            <a:ext cx="371677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462656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25" name="Shape 223"/>
          <p:cNvSpPr/>
          <p:nvPr/>
        </p:nvSpPr>
        <p:spPr>
          <a:xfrm>
            <a:off x="6852621" y="531876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6852621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27" name="Shape 225"/>
          <p:cNvSpPr/>
          <p:nvPr/>
        </p:nvSpPr>
        <p:spPr>
          <a:xfrm>
            <a:off x="7242586" y="5318760"/>
            <a:ext cx="371677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7242586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29" name="Shape 227"/>
          <p:cNvSpPr/>
          <p:nvPr/>
        </p:nvSpPr>
        <p:spPr>
          <a:xfrm>
            <a:off x="7632551" y="531876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7632551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31" name="Shape 229"/>
          <p:cNvSpPr/>
          <p:nvPr/>
        </p:nvSpPr>
        <p:spPr>
          <a:xfrm>
            <a:off x="8022515" y="5318760"/>
            <a:ext cx="371677" cy="377952"/>
          </a:xfrm>
          <a:prstGeom prst="rect">
            <a:avLst/>
          </a:prstGeom>
          <a:solidFill>
            <a:srgbClr val="211C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8022515" y="531876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.05</a:t>
            </a:r>
            <a:endParaRPr lang="en-US" sz="630" dirty="0"/>
          </a:p>
        </p:txBody>
      </p:sp>
      <p:sp>
        <p:nvSpPr>
          <p:cNvPr id="233" name="Text 231"/>
          <p:cNvSpPr/>
          <p:nvPr/>
        </p:nvSpPr>
        <p:spPr>
          <a:xfrm>
            <a:off x="731520" y="571500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optimism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783080" y="571500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1783080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36" name="Shape 234"/>
          <p:cNvSpPr/>
          <p:nvPr/>
        </p:nvSpPr>
        <p:spPr>
          <a:xfrm>
            <a:off x="2173045" y="5715000"/>
            <a:ext cx="371677" cy="377952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2173045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238" name="Shape 236"/>
          <p:cNvSpPr/>
          <p:nvPr/>
        </p:nvSpPr>
        <p:spPr>
          <a:xfrm>
            <a:off x="2563009" y="5715000"/>
            <a:ext cx="371677" cy="377952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563009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40" name="Shape 238"/>
          <p:cNvSpPr/>
          <p:nvPr/>
        </p:nvSpPr>
        <p:spPr>
          <a:xfrm>
            <a:off x="2952974" y="571500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2952974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42" name="Shape 240"/>
          <p:cNvSpPr/>
          <p:nvPr/>
        </p:nvSpPr>
        <p:spPr>
          <a:xfrm>
            <a:off x="3342939" y="571500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342939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44" name="Shape 242"/>
          <p:cNvSpPr/>
          <p:nvPr/>
        </p:nvSpPr>
        <p:spPr>
          <a:xfrm>
            <a:off x="3732904" y="5715000"/>
            <a:ext cx="371677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3732904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46" name="Shape 244"/>
          <p:cNvSpPr/>
          <p:nvPr/>
        </p:nvSpPr>
        <p:spPr>
          <a:xfrm>
            <a:off x="4122868" y="571500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122868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48" name="Shape 246"/>
          <p:cNvSpPr/>
          <p:nvPr/>
        </p:nvSpPr>
        <p:spPr>
          <a:xfrm>
            <a:off x="4512833" y="5715000"/>
            <a:ext cx="371677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512833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50" name="Shape 248"/>
          <p:cNvSpPr/>
          <p:nvPr/>
        </p:nvSpPr>
        <p:spPr>
          <a:xfrm>
            <a:off x="4902798" y="571500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902798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52" name="Shape 250"/>
          <p:cNvSpPr/>
          <p:nvPr/>
        </p:nvSpPr>
        <p:spPr>
          <a:xfrm>
            <a:off x="5292762" y="571500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292762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54" name="Shape 252"/>
          <p:cNvSpPr/>
          <p:nvPr/>
        </p:nvSpPr>
        <p:spPr>
          <a:xfrm>
            <a:off x="5682727" y="571500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5682727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56" name="Shape 254"/>
          <p:cNvSpPr/>
          <p:nvPr/>
        </p:nvSpPr>
        <p:spPr>
          <a:xfrm>
            <a:off x="6072692" y="5715000"/>
            <a:ext cx="371677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072692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58" name="Shape 256"/>
          <p:cNvSpPr/>
          <p:nvPr/>
        </p:nvSpPr>
        <p:spPr>
          <a:xfrm>
            <a:off x="6462656" y="5715000"/>
            <a:ext cx="371677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6462656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60" name="Shape 258"/>
          <p:cNvSpPr/>
          <p:nvPr/>
        </p:nvSpPr>
        <p:spPr>
          <a:xfrm>
            <a:off x="6852621" y="5715000"/>
            <a:ext cx="371677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6852621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62" name="Shape 260"/>
          <p:cNvSpPr/>
          <p:nvPr/>
        </p:nvSpPr>
        <p:spPr>
          <a:xfrm>
            <a:off x="7242586" y="5715000"/>
            <a:ext cx="371677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586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64" name="Shape 262"/>
          <p:cNvSpPr/>
          <p:nvPr/>
        </p:nvSpPr>
        <p:spPr>
          <a:xfrm>
            <a:off x="7632551" y="571500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7632551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66" name="Shape 264"/>
          <p:cNvSpPr/>
          <p:nvPr/>
        </p:nvSpPr>
        <p:spPr>
          <a:xfrm>
            <a:off x="8022515" y="571500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022515" y="571500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68" name="Text 266"/>
          <p:cNvSpPr/>
          <p:nvPr/>
        </p:nvSpPr>
        <p:spPr>
          <a:xfrm>
            <a:off x="731520" y="611124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annoyance</a:t>
            </a:r>
            <a:endParaRPr lang="en-US" sz="850" dirty="0"/>
          </a:p>
        </p:txBody>
      </p:sp>
      <p:sp>
        <p:nvSpPr>
          <p:cNvPr id="269" name="Shape 267"/>
          <p:cNvSpPr/>
          <p:nvPr/>
        </p:nvSpPr>
        <p:spPr>
          <a:xfrm>
            <a:off x="1783080" y="6111240"/>
            <a:ext cx="371677" cy="37795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1783080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271" name="Shape 269"/>
          <p:cNvSpPr/>
          <p:nvPr/>
        </p:nvSpPr>
        <p:spPr>
          <a:xfrm>
            <a:off x="2173045" y="6111240"/>
            <a:ext cx="371677" cy="377952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2173045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273" name="Shape 271"/>
          <p:cNvSpPr/>
          <p:nvPr/>
        </p:nvSpPr>
        <p:spPr>
          <a:xfrm>
            <a:off x="2563009" y="6111240"/>
            <a:ext cx="371677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2563009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75" name="Shape 273"/>
          <p:cNvSpPr/>
          <p:nvPr/>
        </p:nvSpPr>
        <p:spPr>
          <a:xfrm>
            <a:off x="2952974" y="611124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2952974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77" name="Shape 275"/>
          <p:cNvSpPr/>
          <p:nvPr/>
        </p:nvSpPr>
        <p:spPr>
          <a:xfrm>
            <a:off x="3342939" y="6111240"/>
            <a:ext cx="371677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3342939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79" name="Shape 277"/>
          <p:cNvSpPr/>
          <p:nvPr/>
        </p:nvSpPr>
        <p:spPr>
          <a:xfrm>
            <a:off x="3732904" y="611124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732904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81" name="Shape 279"/>
          <p:cNvSpPr/>
          <p:nvPr/>
        </p:nvSpPr>
        <p:spPr>
          <a:xfrm>
            <a:off x="4122868" y="611124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4122868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83" name="Shape 281"/>
          <p:cNvSpPr/>
          <p:nvPr/>
        </p:nvSpPr>
        <p:spPr>
          <a:xfrm>
            <a:off x="4512833" y="6111240"/>
            <a:ext cx="371677" cy="377952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4512833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85" name="Shape 283"/>
          <p:cNvSpPr/>
          <p:nvPr/>
        </p:nvSpPr>
        <p:spPr>
          <a:xfrm>
            <a:off x="4902798" y="611124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902798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87" name="Shape 285"/>
          <p:cNvSpPr/>
          <p:nvPr/>
        </p:nvSpPr>
        <p:spPr>
          <a:xfrm>
            <a:off x="5292762" y="6111240"/>
            <a:ext cx="371677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5292762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89" name="Shape 287"/>
          <p:cNvSpPr/>
          <p:nvPr/>
        </p:nvSpPr>
        <p:spPr>
          <a:xfrm>
            <a:off x="5682727" y="6111240"/>
            <a:ext cx="371677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5682727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91" name="Shape 289"/>
          <p:cNvSpPr/>
          <p:nvPr/>
        </p:nvSpPr>
        <p:spPr>
          <a:xfrm>
            <a:off x="6072692" y="6111240"/>
            <a:ext cx="371677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6072692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93" name="Shape 291"/>
          <p:cNvSpPr/>
          <p:nvPr/>
        </p:nvSpPr>
        <p:spPr>
          <a:xfrm>
            <a:off x="6462656" y="611124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6462656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95" name="Shape 293"/>
          <p:cNvSpPr/>
          <p:nvPr/>
        </p:nvSpPr>
        <p:spPr>
          <a:xfrm>
            <a:off x="6852621" y="611124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6852621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97" name="Shape 295"/>
          <p:cNvSpPr/>
          <p:nvPr/>
        </p:nvSpPr>
        <p:spPr>
          <a:xfrm>
            <a:off x="7242586" y="6111240"/>
            <a:ext cx="371677" cy="377952"/>
          </a:xfrm>
          <a:prstGeom prst="rect">
            <a:avLst/>
          </a:prstGeom>
          <a:solidFill>
            <a:srgbClr val="241E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7242586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299" name="Shape 297"/>
          <p:cNvSpPr/>
          <p:nvPr/>
        </p:nvSpPr>
        <p:spPr>
          <a:xfrm>
            <a:off x="7632551" y="6111240"/>
            <a:ext cx="371677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7632551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301" name="Shape 299"/>
          <p:cNvSpPr/>
          <p:nvPr/>
        </p:nvSpPr>
        <p:spPr>
          <a:xfrm>
            <a:off x="8022515" y="611124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8022515" y="611124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303" name="Text 301"/>
          <p:cNvSpPr/>
          <p:nvPr/>
        </p:nvSpPr>
        <p:spPr>
          <a:xfrm>
            <a:off x="731520" y="650748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disapproval</a:t>
            </a:r>
            <a:endParaRPr lang="en-US" sz="850" dirty="0"/>
          </a:p>
        </p:txBody>
      </p:sp>
      <p:sp>
        <p:nvSpPr>
          <p:cNvPr id="304" name="Shape 302"/>
          <p:cNvSpPr/>
          <p:nvPr/>
        </p:nvSpPr>
        <p:spPr>
          <a:xfrm>
            <a:off x="1783080" y="6507480"/>
            <a:ext cx="371677" cy="37795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1783080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306" name="Shape 304"/>
          <p:cNvSpPr/>
          <p:nvPr/>
        </p:nvSpPr>
        <p:spPr>
          <a:xfrm>
            <a:off x="2173045" y="650748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2173045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308" name="Shape 306"/>
          <p:cNvSpPr/>
          <p:nvPr/>
        </p:nvSpPr>
        <p:spPr>
          <a:xfrm>
            <a:off x="2563009" y="6507480"/>
            <a:ext cx="371677" cy="377952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2563009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310" name="Shape 308"/>
          <p:cNvSpPr/>
          <p:nvPr/>
        </p:nvSpPr>
        <p:spPr>
          <a:xfrm>
            <a:off x="2952974" y="6507480"/>
            <a:ext cx="371677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2952974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312" name="Shape 310"/>
          <p:cNvSpPr/>
          <p:nvPr/>
        </p:nvSpPr>
        <p:spPr>
          <a:xfrm>
            <a:off x="3342939" y="6507480"/>
            <a:ext cx="371677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3342939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314" name="Shape 312"/>
          <p:cNvSpPr/>
          <p:nvPr/>
        </p:nvSpPr>
        <p:spPr>
          <a:xfrm>
            <a:off x="3732904" y="650748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3732904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316" name="Shape 314"/>
          <p:cNvSpPr/>
          <p:nvPr/>
        </p:nvSpPr>
        <p:spPr>
          <a:xfrm>
            <a:off x="4122868" y="6507480"/>
            <a:ext cx="371677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4122868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318" name="Shape 316"/>
          <p:cNvSpPr/>
          <p:nvPr/>
        </p:nvSpPr>
        <p:spPr>
          <a:xfrm>
            <a:off x="4512833" y="650748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4512833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320" name="Shape 318"/>
          <p:cNvSpPr/>
          <p:nvPr/>
        </p:nvSpPr>
        <p:spPr>
          <a:xfrm>
            <a:off x="4902798" y="6507480"/>
            <a:ext cx="371677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4902798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322" name="Shape 320"/>
          <p:cNvSpPr/>
          <p:nvPr/>
        </p:nvSpPr>
        <p:spPr>
          <a:xfrm>
            <a:off x="5292762" y="6507480"/>
            <a:ext cx="371677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5292762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324" name="Shape 322"/>
          <p:cNvSpPr/>
          <p:nvPr/>
        </p:nvSpPr>
        <p:spPr>
          <a:xfrm>
            <a:off x="5682727" y="6507480"/>
            <a:ext cx="371677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5682727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326" name="Shape 324"/>
          <p:cNvSpPr/>
          <p:nvPr/>
        </p:nvSpPr>
        <p:spPr>
          <a:xfrm>
            <a:off x="6072692" y="6507480"/>
            <a:ext cx="371677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6072692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328" name="Shape 326"/>
          <p:cNvSpPr/>
          <p:nvPr/>
        </p:nvSpPr>
        <p:spPr>
          <a:xfrm>
            <a:off x="6462656" y="6507480"/>
            <a:ext cx="371677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6462656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330" name="Shape 328"/>
          <p:cNvSpPr/>
          <p:nvPr/>
        </p:nvSpPr>
        <p:spPr>
          <a:xfrm>
            <a:off x="6852621" y="6507480"/>
            <a:ext cx="371677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6852621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332" name="Shape 330"/>
          <p:cNvSpPr/>
          <p:nvPr/>
        </p:nvSpPr>
        <p:spPr>
          <a:xfrm>
            <a:off x="7242586" y="6507480"/>
            <a:ext cx="371677" cy="377952"/>
          </a:xfrm>
          <a:prstGeom prst="rect">
            <a:avLst/>
          </a:prstGeom>
          <a:solidFill>
            <a:srgbClr val="201B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7242586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.05</a:t>
            </a:r>
            <a:endParaRPr lang="en-US" sz="630" dirty="0"/>
          </a:p>
        </p:txBody>
      </p:sp>
      <p:sp>
        <p:nvSpPr>
          <p:cNvPr id="334" name="Shape 332"/>
          <p:cNvSpPr/>
          <p:nvPr/>
        </p:nvSpPr>
        <p:spPr>
          <a:xfrm>
            <a:off x="7632551" y="6507480"/>
            <a:ext cx="371677" cy="377952"/>
          </a:xfrm>
          <a:prstGeom prst="rect">
            <a:avLst/>
          </a:prstGeom>
          <a:solidFill>
            <a:srgbClr val="1F1A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7632551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336" name="Shape 334"/>
          <p:cNvSpPr/>
          <p:nvPr/>
        </p:nvSpPr>
        <p:spPr>
          <a:xfrm>
            <a:off x="8022515" y="6507480"/>
            <a:ext cx="371677" cy="377952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8022515" y="6507480"/>
            <a:ext cx="371677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338" name="Shape 336"/>
          <p:cNvSpPr/>
          <p:nvPr/>
        </p:nvSpPr>
        <p:spPr>
          <a:xfrm>
            <a:off x="731520" y="7178040"/>
            <a:ext cx="7680960" cy="3063240"/>
          </a:xfrm>
          <a:prstGeom prst="roundRect">
            <a:avLst>
              <a:gd name="adj" fmla="val 2388"/>
            </a:avLst>
          </a:prstGeom>
          <a:solidFill>
            <a:srgbClr val="13221D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1051560" y="7434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40" name="Text 338"/>
          <p:cNvSpPr/>
          <p:nvPr/>
        </p:nvSpPr>
        <p:spPr>
          <a:xfrm>
            <a:off x="1051560" y="774496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Backwards.</a:t>
            </a:r>
            <a:endParaRPr lang="en-US" sz="1900" dirty="0"/>
          </a:p>
        </p:txBody>
      </p:sp>
      <p:sp>
        <p:nvSpPr>
          <p:cNvPr id="341" name="Text 339"/>
          <p:cNvSpPr/>
          <p:nvPr/>
        </p:nvSpPr>
        <p:spPr>
          <a:xfrm>
            <a:off x="1051560" y="8293608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Caring peaks at Ch11 (0.18) and love peaks at Ch11 (0.13), both their highest points anywhere in his arc.</a:t>
            </a:r>
            <a:endParaRPr lang="en-US" sz="1350" dirty="0"/>
          </a:p>
        </p:txBody>
      </p:sp>
      <p:sp>
        <p:nvSpPr>
          <p:cNvPr id="342" name="Text 340"/>
          <p:cNvSpPr/>
          <p:nvPr/>
        </p:nvSpPr>
        <p:spPr>
          <a:xfrm>
            <a:off x="1051560" y="9025128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where Krishna is most overwhelming is also the chapter where he's most comforting.</a:t>
            </a:r>
            <a:endParaRPr lang="en-US" sz="1350" dirty="0"/>
          </a:p>
        </p:txBody>
      </p:sp>
      <p:sp>
        <p:nvSpPr>
          <p:cNvPr id="343" name="Text 341"/>
          <p:cNvSpPr/>
          <p:nvPr/>
        </p:nvSpPr>
        <p:spPr>
          <a:xfrm>
            <a:off x="1051560" y="9756648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Approval, not fear, actually saturates his voice, peaking at Ch5 (0.21) and Ch17 (0.22).</a:t>
            </a:r>
            <a:endParaRPr lang="en-US" sz="1350" dirty="0"/>
          </a:p>
        </p:txBody>
      </p:sp>
      <p:sp>
        <p:nvSpPr>
          <p:cNvPr id="344" name="Text 342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“Arjuna is defined by despair and grief.”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popular reading; this is the text's own framing. Chapter 1 carries an actual name in Sanskrit.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577840"/>
            <a:ext cx="7680960" cy="2286000"/>
          </a:xfrm>
          <a:prstGeom prst="roundRect">
            <a:avLst>
              <a:gd name="adj" fmla="val 3200"/>
            </a:avLst>
          </a:prstGeom>
          <a:solidFill>
            <a:srgbClr val="271B10"/>
          </a:solidFill>
          <a:ln w="12700">
            <a:solidFill>
              <a:srgbClr val="433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 VERIFIED LIVE LINK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62179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“Chapter 1: Arjun Vishād Yog” — “Lamenting the Consequences of War.” The chapter's own title, in the original Sanskrit.</a:t>
            </a:r>
            <a:endParaRPr lang="en-US" sz="14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51560" y="73609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holy-bhagavad-gita.org/chapter/1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092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text itself named him for his grief before a single teaching had even begun.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9509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WHAT DOES THE DATA SAY?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 own named chapter versus his emotional average across all 18.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ARJUNA'S EMOTIONAL ARC / REAL VALUES FROM YOUR NOTEBOOK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83080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93034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802988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312942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822895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332849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842803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352757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862711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372665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882618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392572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7902526" y="3099816"/>
            <a:ext cx="5099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31520" y="333756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curiosity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783080" y="333756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2293034" y="3337560"/>
            <a:ext cx="491666" cy="377952"/>
          </a:xfrm>
          <a:prstGeom prst="rect">
            <a:avLst/>
          </a:prstGeom>
          <a:solidFill>
            <a:srgbClr val="22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3034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.15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2802988" y="3337560"/>
            <a:ext cx="491666" cy="377952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02988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.27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3312942" y="3337560"/>
            <a:ext cx="491666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2942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3822895" y="3337560"/>
            <a:ext cx="491666" cy="377952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895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4332849" y="3337560"/>
            <a:ext cx="491666" cy="377952"/>
          </a:xfrm>
          <a:prstGeom prst="rect">
            <a:avLst/>
          </a:prstGeom>
          <a:solidFill>
            <a:srgbClr val="262016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2849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.20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4842803" y="3337560"/>
            <a:ext cx="491666" cy="377952"/>
          </a:xfrm>
          <a:prstGeom prst="rect">
            <a:avLst/>
          </a:prstGeom>
          <a:solidFill>
            <a:srgbClr val="30463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2803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.34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5352757" y="3337560"/>
            <a:ext cx="491666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52757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.08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5862711" y="3337560"/>
            <a:ext cx="491666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62711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6372665" y="3337560"/>
            <a:ext cx="491666" cy="377952"/>
          </a:xfrm>
          <a:prstGeom prst="rect">
            <a:avLst/>
          </a:prstGeom>
          <a:solidFill>
            <a:srgbClr val="33564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2665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.37</a:t>
            </a:r>
            <a:endParaRPr lang="en-US" sz="630" dirty="0"/>
          </a:p>
        </p:txBody>
      </p:sp>
      <p:sp>
        <p:nvSpPr>
          <p:cNvPr id="40" name="Shape 38"/>
          <p:cNvSpPr/>
          <p:nvPr/>
        </p:nvSpPr>
        <p:spPr>
          <a:xfrm>
            <a:off x="6882618" y="3337560"/>
            <a:ext cx="491666" cy="377952"/>
          </a:xfrm>
          <a:prstGeom prst="rect">
            <a:avLst/>
          </a:prstGeom>
          <a:solidFill>
            <a:srgbClr val="1D18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82618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.08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7392572" y="3337560"/>
            <a:ext cx="491666" cy="377952"/>
          </a:xfrm>
          <a:prstGeom prst="rect">
            <a:avLst/>
          </a:prstGeom>
          <a:solidFill>
            <a:srgbClr val="3FB59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92572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.55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7902526" y="3337560"/>
            <a:ext cx="491666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2526" y="33375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.08</a:t>
            </a:r>
            <a:endParaRPr lang="en-US" sz="630" dirty="0"/>
          </a:p>
        </p:txBody>
      </p:sp>
      <p:sp>
        <p:nvSpPr>
          <p:cNvPr id="46" name="Text 44"/>
          <p:cNvSpPr/>
          <p:nvPr/>
        </p:nvSpPr>
        <p:spPr>
          <a:xfrm>
            <a:off x="731520" y="373380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783080" y="373380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83080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2293034" y="3733800"/>
            <a:ext cx="491666" cy="377952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93034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.16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2802988" y="3733800"/>
            <a:ext cx="491666" cy="377952"/>
          </a:xfrm>
          <a:prstGeom prst="rect">
            <a:avLst/>
          </a:prstGeom>
          <a:solidFill>
            <a:srgbClr val="32514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02988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.36</a:t>
            </a:r>
            <a:endParaRPr lang="en-US" sz="630" dirty="0"/>
          </a:p>
        </p:txBody>
      </p:sp>
      <p:sp>
        <p:nvSpPr>
          <p:cNvPr id="53" name="Shape 51"/>
          <p:cNvSpPr/>
          <p:nvPr/>
        </p:nvSpPr>
        <p:spPr>
          <a:xfrm>
            <a:off x="3312942" y="3733800"/>
            <a:ext cx="491666" cy="377952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12942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.18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3822895" y="3733800"/>
            <a:ext cx="491666" cy="377952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22895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.16</a:t>
            </a:r>
            <a:endParaRPr lang="en-US" sz="630" dirty="0"/>
          </a:p>
        </p:txBody>
      </p:sp>
      <p:sp>
        <p:nvSpPr>
          <p:cNvPr id="57" name="Shape 55"/>
          <p:cNvSpPr/>
          <p:nvPr/>
        </p:nvSpPr>
        <p:spPr>
          <a:xfrm>
            <a:off x="4332849" y="3733800"/>
            <a:ext cx="491666" cy="377952"/>
          </a:xfrm>
          <a:prstGeom prst="rect">
            <a:avLst/>
          </a:prstGeom>
          <a:solidFill>
            <a:srgbClr val="201B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32849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.12</a:t>
            </a:r>
            <a:endParaRPr lang="en-US" sz="630" dirty="0"/>
          </a:p>
        </p:txBody>
      </p:sp>
      <p:sp>
        <p:nvSpPr>
          <p:cNvPr id="59" name="Shape 57"/>
          <p:cNvSpPr/>
          <p:nvPr/>
        </p:nvSpPr>
        <p:spPr>
          <a:xfrm>
            <a:off x="4842803" y="3733800"/>
            <a:ext cx="491666" cy="377952"/>
          </a:xfrm>
          <a:prstGeom prst="rect">
            <a:avLst/>
          </a:prstGeom>
          <a:solidFill>
            <a:srgbClr val="29221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2803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.24</a:t>
            </a:r>
            <a:endParaRPr lang="en-US" sz="630" dirty="0"/>
          </a:p>
        </p:txBody>
      </p:sp>
      <p:sp>
        <p:nvSpPr>
          <p:cNvPr id="61" name="Shape 59"/>
          <p:cNvSpPr/>
          <p:nvPr/>
        </p:nvSpPr>
        <p:spPr>
          <a:xfrm>
            <a:off x="5352757" y="37338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52757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5862711" y="373380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62711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65" name="Shape 63"/>
          <p:cNvSpPr/>
          <p:nvPr/>
        </p:nvSpPr>
        <p:spPr>
          <a:xfrm>
            <a:off x="6372665" y="3733800"/>
            <a:ext cx="491666" cy="377952"/>
          </a:xfrm>
          <a:prstGeom prst="rect">
            <a:avLst/>
          </a:prstGeom>
          <a:solidFill>
            <a:srgbClr val="24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72665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.17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6882618" y="3733800"/>
            <a:ext cx="491666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82618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69" name="Shape 67"/>
          <p:cNvSpPr/>
          <p:nvPr/>
        </p:nvSpPr>
        <p:spPr>
          <a:xfrm>
            <a:off x="7392572" y="3733800"/>
            <a:ext cx="491666" cy="377952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92572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.18</a:t>
            </a:r>
            <a:endParaRPr lang="en-US" sz="630" dirty="0"/>
          </a:p>
        </p:txBody>
      </p:sp>
      <p:sp>
        <p:nvSpPr>
          <p:cNvPr id="71" name="Shape 69"/>
          <p:cNvSpPr/>
          <p:nvPr/>
        </p:nvSpPr>
        <p:spPr>
          <a:xfrm>
            <a:off x="7902526" y="3733800"/>
            <a:ext cx="491666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02526" y="37338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73" name="Text 71"/>
          <p:cNvSpPr/>
          <p:nvPr/>
        </p:nvSpPr>
        <p:spPr>
          <a:xfrm>
            <a:off x="731520" y="413004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admiration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783080" y="41300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83080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2293034" y="413004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93034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78" name="Shape 76"/>
          <p:cNvSpPr/>
          <p:nvPr/>
        </p:nvSpPr>
        <p:spPr>
          <a:xfrm>
            <a:off x="2802988" y="41300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02988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80" name="Shape 78"/>
          <p:cNvSpPr/>
          <p:nvPr/>
        </p:nvSpPr>
        <p:spPr>
          <a:xfrm>
            <a:off x="3312942" y="4130040"/>
            <a:ext cx="491666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12942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82" name="Shape 80"/>
          <p:cNvSpPr/>
          <p:nvPr/>
        </p:nvSpPr>
        <p:spPr>
          <a:xfrm>
            <a:off x="3822895" y="4130040"/>
            <a:ext cx="491666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22895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.05</a:t>
            </a:r>
            <a:endParaRPr lang="en-US" sz="630" dirty="0"/>
          </a:p>
        </p:txBody>
      </p:sp>
      <p:sp>
        <p:nvSpPr>
          <p:cNvPr id="84" name="Shape 82"/>
          <p:cNvSpPr/>
          <p:nvPr/>
        </p:nvSpPr>
        <p:spPr>
          <a:xfrm>
            <a:off x="4332849" y="41300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32849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86" name="Shape 84"/>
          <p:cNvSpPr/>
          <p:nvPr/>
        </p:nvSpPr>
        <p:spPr>
          <a:xfrm>
            <a:off x="4842803" y="41300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42803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88" name="Shape 86"/>
          <p:cNvSpPr/>
          <p:nvPr/>
        </p:nvSpPr>
        <p:spPr>
          <a:xfrm>
            <a:off x="5352757" y="4130040"/>
            <a:ext cx="491666" cy="377952"/>
          </a:xfrm>
          <a:prstGeom prst="rect">
            <a:avLst/>
          </a:prstGeom>
          <a:solidFill>
            <a:srgbClr val="30413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52757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.33</a:t>
            </a:r>
            <a:endParaRPr lang="en-US" sz="630" dirty="0"/>
          </a:p>
        </p:txBody>
      </p:sp>
      <p:sp>
        <p:nvSpPr>
          <p:cNvPr id="90" name="Shape 88"/>
          <p:cNvSpPr/>
          <p:nvPr/>
        </p:nvSpPr>
        <p:spPr>
          <a:xfrm>
            <a:off x="5862711" y="4130040"/>
            <a:ext cx="491666" cy="377952"/>
          </a:xfrm>
          <a:prstGeom prst="rect">
            <a:avLst/>
          </a:prstGeom>
          <a:solidFill>
            <a:srgbClr val="304638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62711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.34</a:t>
            </a:r>
            <a:endParaRPr lang="en-US" sz="630" dirty="0"/>
          </a:p>
        </p:txBody>
      </p:sp>
      <p:sp>
        <p:nvSpPr>
          <p:cNvPr id="92" name="Shape 90"/>
          <p:cNvSpPr/>
          <p:nvPr/>
        </p:nvSpPr>
        <p:spPr>
          <a:xfrm>
            <a:off x="6372665" y="41300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72665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94" name="Shape 92"/>
          <p:cNvSpPr/>
          <p:nvPr/>
        </p:nvSpPr>
        <p:spPr>
          <a:xfrm>
            <a:off x="6882618" y="4130040"/>
            <a:ext cx="491666" cy="377952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82618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</a:t>
            </a:r>
            <a:endParaRPr lang="en-US" sz="630" dirty="0"/>
          </a:p>
        </p:txBody>
      </p:sp>
      <p:sp>
        <p:nvSpPr>
          <p:cNvPr id="96" name="Shape 94"/>
          <p:cNvSpPr/>
          <p:nvPr/>
        </p:nvSpPr>
        <p:spPr>
          <a:xfrm>
            <a:off x="7392572" y="41300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92572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98" name="Shape 96"/>
          <p:cNvSpPr/>
          <p:nvPr/>
        </p:nvSpPr>
        <p:spPr>
          <a:xfrm>
            <a:off x="7902526" y="4130040"/>
            <a:ext cx="491666" cy="377952"/>
          </a:xfrm>
          <a:prstGeom prst="rect">
            <a:avLst/>
          </a:prstGeom>
          <a:solidFill>
            <a:srgbClr val="2C271A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902526" y="41300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.28</a:t>
            </a:r>
            <a:endParaRPr lang="en-US" sz="630" dirty="0"/>
          </a:p>
        </p:txBody>
      </p:sp>
      <p:sp>
        <p:nvSpPr>
          <p:cNvPr id="100" name="Text 98"/>
          <p:cNvSpPr/>
          <p:nvPr/>
        </p:nvSpPr>
        <p:spPr>
          <a:xfrm>
            <a:off x="731520" y="452628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783080" y="4526280"/>
            <a:ext cx="491666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783080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03" name="Shape 101"/>
          <p:cNvSpPr/>
          <p:nvPr/>
        </p:nvSpPr>
        <p:spPr>
          <a:xfrm>
            <a:off x="2293034" y="4526280"/>
            <a:ext cx="491666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93034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.05</a:t>
            </a:r>
            <a:endParaRPr lang="en-US" sz="630" dirty="0"/>
          </a:p>
        </p:txBody>
      </p:sp>
      <p:sp>
        <p:nvSpPr>
          <p:cNvPr id="105" name="Shape 103"/>
          <p:cNvSpPr/>
          <p:nvPr/>
        </p:nvSpPr>
        <p:spPr>
          <a:xfrm>
            <a:off x="2802988" y="4526280"/>
            <a:ext cx="491666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802988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107" name="Shape 105"/>
          <p:cNvSpPr/>
          <p:nvPr/>
        </p:nvSpPr>
        <p:spPr>
          <a:xfrm>
            <a:off x="3312942" y="452628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312942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109" name="Shape 107"/>
          <p:cNvSpPr/>
          <p:nvPr/>
        </p:nvSpPr>
        <p:spPr>
          <a:xfrm>
            <a:off x="3822895" y="4526280"/>
            <a:ext cx="491666" cy="377952"/>
          </a:xfrm>
          <a:prstGeom prst="rect">
            <a:avLst/>
          </a:prstGeom>
          <a:solidFill>
            <a:srgbClr val="241E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22895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.17</a:t>
            </a:r>
            <a:endParaRPr lang="en-US" sz="630" dirty="0"/>
          </a:p>
        </p:txBody>
      </p:sp>
      <p:sp>
        <p:nvSpPr>
          <p:cNvPr id="111" name="Shape 109"/>
          <p:cNvSpPr/>
          <p:nvPr/>
        </p:nvSpPr>
        <p:spPr>
          <a:xfrm>
            <a:off x="4332849" y="4526280"/>
            <a:ext cx="491666" cy="37795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32849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.05</a:t>
            </a:r>
            <a:endParaRPr lang="en-US" sz="630" dirty="0"/>
          </a:p>
        </p:txBody>
      </p:sp>
      <p:sp>
        <p:nvSpPr>
          <p:cNvPr id="113" name="Shape 111"/>
          <p:cNvSpPr/>
          <p:nvPr/>
        </p:nvSpPr>
        <p:spPr>
          <a:xfrm>
            <a:off x="4842803" y="45262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842803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15" name="Shape 113"/>
          <p:cNvSpPr/>
          <p:nvPr/>
        </p:nvSpPr>
        <p:spPr>
          <a:xfrm>
            <a:off x="5352757" y="4526280"/>
            <a:ext cx="491666" cy="377952"/>
          </a:xfrm>
          <a:prstGeom prst="rect">
            <a:avLst/>
          </a:prstGeom>
          <a:solidFill>
            <a:srgbClr val="292117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352757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.23</a:t>
            </a:r>
            <a:endParaRPr lang="en-US" sz="630" dirty="0"/>
          </a:p>
        </p:txBody>
      </p:sp>
      <p:sp>
        <p:nvSpPr>
          <p:cNvPr id="117" name="Shape 115"/>
          <p:cNvSpPr/>
          <p:nvPr/>
        </p:nvSpPr>
        <p:spPr>
          <a:xfrm>
            <a:off x="5862711" y="452628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862711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119" name="Shape 117"/>
          <p:cNvSpPr/>
          <p:nvPr/>
        </p:nvSpPr>
        <p:spPr>
          <a:xfrm>
            <a:off x="6372665" y="45262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72665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21" name="Shape 119"/>
          <p:cNvSpPr/>
          <p:nvPr/>
        </p:nvSpPr>
        <p:spPr>
          <a:xfrm>
            <a:off x="6882618" y="4526280"/>
            <a:ext cx="491666" cy="377952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882618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</a:t>
            </a:r>
            <a:endParaRPr lang="en-US" sz="630" dirty="0"/>
          </a:p>
        </p:txBody>
      </p:sp>
      <p:sp>
        <p:nvSpPr>
          <p:cNvPr id="123" name="Shape 121"/>
          <p:cNvSpPr/>
          <p:nvPr/>
        </p:nvSpPr>
        <p:spPr>
          <a:xfrm>
            <a:off x="7392572" y="45262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392572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25" name="Shape 123"/>
          <p:cNvSpPr/>
          <p:nvPr/>
        </p:nvSpPr>
        <p:spPr>
          <a:xfrm>
            <a:off x="7902526" y="4526280"/>
            <a:ext cx="491666" cy="37795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902526" y="45262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.09</a:t>
            </a:r>
            <a:endParaRPr lang="en-US" sz="630" dirty="0"/>
          </a:p>
        </p:txBody>
      </p:sp>
      <p:sp>
        <p:nvSpPr>
          <p:cNvPr id="127" name="Text 125"/>
          <p:cNvSpPr/>
          <p:nvPr/>
        </p:nvSpPr>
        <p:spPr>
          <a:xfrm>
            <a:off x="731520" y="492252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joy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1783080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783080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30" name="Shape 128"/>
          <p:cNvSpPr/>
          <p:nvPr/>
        </p:nvSpPr>
        <p:spPr>
          <a:xfrm>
            <a:off x="2293034" y="4922520"/>
            <a:ext cx="491666" cy="377952"/>
          </a:xfrm>
          <a:prstGeom prst="rect">
            <a:avLst/>
          </a:prstGeom>
          <a:solidFill>
            <a:srgbClr val="221C1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293034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.14</a:t>
            </a:r>
            <a:endParaRPr lang="en-US" sz="630" dirty="0"/>
          </a:p>
        </p:txBody>
      </p:sp>
      <p:sp>
        <p:nvSpPr>
          <p:cNvPr id="132" name="Shape 130"/>
          <p:cNvSpPr/>
          <p:nvPr/>
        </p:nvSpPr>
        <p:spPr>
          <a:xfrm>
            <a:off x="2802988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802988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34" name="Shape 132"/>
          <p:cNvSpPr/>
          <p:nvPr/>
        </p:nvSpPr>
        <p:spPr>
          <a:xfrm>
            <a:off x="3312942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312942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36" name="Shape 134"/>
          <p:cNvSpPr/>
          <p:nvPr/>
        </p:nvSpPr>
        <p:spPr>
          <a:xfrm>
            <a:off x="3822895" y="492252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822895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138" name="Shape 136"/>
          <p:cNvSpPr/>
          <p:nvPr/>
        </p:nvSpPr>
        <p:spPr>
          <a:xfrm>
            <a:off x="4332849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332849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40" name="Shape 138"/>
          <p:cNvSpPr/>
          <p:nvPr/>
        </p:nvSpPr>
        <p:spPr>
          <a:xfrm>
            <a:off x="4842803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842803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42" name="Shape 140"/>
          <p:cNvSpPr/>
          <p:nvPr/>
        </p:nvSpPr>
        <p:spPr>
          <a:xfrm>
            <a:off x="5352757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352757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44" name="Shape 142"/>
          <p:cNvSpPr/>
          <p:nvPr/>
        </p:nvSpPr>
        <p:spPr>
          <a:xfrm>
            <a:off x="5862711" y="4922520"/>
            <a:ext cx="491666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862711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146" name="Shape 144"/>
          <p:cNvSpPr/>
          <p:nvPr/>
        </p:nvSpPr>
        <p:spPr>
          <a:xfrm>
            <a:off x="6372665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372665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48" name="Shape 146"/>
          <p:cNvSpPr/>
          <p:nvPr/>
        </p:nvSpPr>
        <p:spPr>
          <a:xfrm>
            <a:off x="6882618" y="4922520"/>
            <a:ext cx="491666" cy="377952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882618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.08</a:t>
            </a:r>
            <a:endParaRPr lang="en-US" sz="630" dirty="0"/>
          </a:p>
        </p:txBody>
      </p:sp>
      <p:sp>
        <p:nvSpPr>
          <p:cNvPr id="150" name="Shape 148"/>
          <p:cNvSpPr/>
          <p:nvPr/>
        </p:nvSpPr>
        <p:spPr>
          <a:xfrm>
            <a:off x="7392572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392572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7902526" y="492252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902526" y="492252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54" name="Text 152"/>
          <p:cNvSpPr/>
          <p:nvPr/>
        </p:nvSpPr>
        <p:spPr>
          <a:xfrm>
            <a:off x="731520" y="531876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caring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1783080" y="5318760"/>
            <a:ext cx="491666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783080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57" name="Shape 155"/>
          <p:cNvSpPr/>
          <p:nvPr/>
        </p:nvSpPr>
        <p:spPr>
          <a:xfrm>
            <a:off x="2293034" y="531876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293034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159" name="Shape 157"/>
          <p:cNvSpPr/>
          <p:nvPr/>
        </p:nvSpPr>
        <p:spPr>
          <a:xfrm>
            <a:off x="2802988" y="5318760"/>
            <a:ext cx="491666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802988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61" name="Shape 159"/>
          <p:cNvSpPr/>
          <p:nvPr/>
        </p:nvSpPr>
        <p:spPr>
          <a:xfrm>
            <a:off x="3312942" y="531876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312942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63" name="Shape 161"/>
          <p:cNvSpPr/>
          <p:nvPr/>
        </p:nvSpPr>
        <p:spPr>
          <a:xfrm>
            <a:off x="3822895" y="5318760"/>
            <a:ext cx="491666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822895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65" name="Shape 163"/>
          <p:cNvSpPr/>
          <p:nvPr/>
        </p:nvSpPr>
        <p:spPr>
          <a:xfrm>
            <a:off x="4332849" y="531876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332849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67" name="Shape 165"/>
          <p:cNvSpPr/>
          <p:nvPr/>
        </p:nvSpPr>
        <p:spPr>
          <a:xfrm>
            <a:off x="4842803" y="531876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842803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69" name="Shape 167"/>
          <p:cNvSpPr/>
          <p:nvPr/>
        </p:nvSpPr>
        <p:spPr>
          <a:xfrm>
            <a:off x="5352757" y="5318760"/>
            <a:ext cx="491666" cy="377952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352757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171" name="Shape 169"/>
          <p:cNvSpPr/>
          <p:nvPr/>
        </p:nvSpPr>
        <p:spPr>
          <a:xfrm>
            <a:off x="5862711" y="5318760"/>
            <a:ext cx="491666" cy="377952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862711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173" name="Shape 171"/>
          <p:cNvSpPr/>
          <p:nvPr/>
        </p:nvSpPr>
        <p:spPr>
          <a:xfrm>
            <a:off x="6372665" y="531876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6372665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75" name="Shape 173"/>
          <p:cNvSpPr/>
          <p:nvPr/>
        </p:nvSpPr>
        <p:spPr>
          <a:xfrm>
            <a:off x="6882618" y="531876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882618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77" name="Shape 175"/>
          <p:cNvSpPr/>
          <p:nvPr/>
        </p:nvSpPr>
        <p:spPr>
          <a:xfrm>
            <a:off x="7392572" y="531876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392572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79" name="Shape 177"/>
          <p:cNvSpPr/>
          <p:nvPr/>
        </p:nvSpPr>
        <p:spPr>
          <a:xfrm>
            <a:off x="7902526" y="5318760"/>
            <a:ext cx="491666" cy="377952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902526" y="531876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</a:t>
            </a:r>
            <a:endParaRPr lang="en-US" sz="630" dirty="0"/>
          </a:p>
        </p:txBody>
      </p:sp>
      <p:sp>
        <p:nvSpPr>
          <p:cNvPr id="181" name="Text 179"/>
          <p:cNvSpPr/>
          <p:nvPr/>
        </p:nvSpPr>
        <p:spPr>
          <a:xfrm>
            <a:off x="731520" y="571500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sadness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1783080" y="5715000"/>
            <a:ext cx="491666" cy="377952"/>
          </a:xfrm>
          <a:prstGeom prst="rect">
            <a:avLst/>
          </a:prstGeom>
          <a:solidFill>
            <a:srgbClr val="211C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783080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.13</a:t>
            </a:r>
            <a:endParaRPr lang="en-US" sz="630" dirty="0"/>
          </a:p>
        </p:txBody>
      </p:sp>
      <p:sp>
        <p:nvSpPr>
          <p:cNvPr id="184" name="Shape 182"/>
          <p:cNvSpPr/>
          <p:nvPr/>
        </p:nvSpPr>
        <p:spPr>
          <a:xfrm>
            <a:off x="2293034" y="5715000"/>
            <a:ext cx="491666" cy="377952"/>
          </a:xfrm>
          <a:prstGeom prst="rect">
            <a:avLst/>
          </a:prstGeom>
          <a:solidFill>
            <a:srgbClr val="1F1A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2293034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630" dirty="0"/>
          </a:p>
        </p:txBody>
      </p:sp>
      <p:sp>
        <p:nvSpPr>
          <p:cNvPr id="186" name="Shape 184"/>
          <p:cNvSpPr/>
          <p:nvPr/>
        </p:nvSpPr>
        <p:spPr>
          <a:xfrm>
            <a:off x="2802988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802988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88" name="Shape 186"/>
          <p:cNvSpPr/>
          <p:nvPr/>
        </p:nvSpPr>
        <p:spPr>
          <a:xfrm>
            <a:off x="3312942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3312942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90" name="Shape 188"/>
          <p:cNvSpPr/>
          <p:nvPr/>
        </p:nvSpPr>
        <p:spPr>
          <a:xfrm>
            <a:off x="3822895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822895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92" name="Shape 190"/>
          <p:cNvSpPr/>
          <p:nvPr/>
        </p:nvSpPr>
        <p:spPr>
          <a:xfrm>
            <a:off x="4332849" y="5715000"/>
            <a:ext cx="491666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332849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194" name="Shape 192"/>
          <p:cNvSpPr/>
          <p:nvPr/>
        </p:nvSpPr>
        <p:spPr>
          <a:xfrm>
            <a:off x="4842803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842803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96" name="Shape 194"/>
          <p:cNvSpPr/>
          <p:nvPr/>
        </p:nvSpPr>
        <p:spPr>
          <a:xfrm>
            <a:off x="5352757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352757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198" name="Shape 196"/>
          <p:cNvSpPr/>
          <p:nvPr/>
        </p:nvSpPr>
        <p:spPr>
          <a:xfrm>
            <a:off x="5862711" y="5715000"/>
            <a:ext cx="491666" cy="377952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862711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.04</a:t>
            </a:r>
            <a:endParaRPr lang="en-US" sz="630" dirty="0"/>
          </a:p>
        </p:txBody>
      </p:sp>
      <p:sp>
        <p:nvSpPr>
          <p:cNvPr id="200" name="Shape 198"/>
          <p:cNvSpPr/>
          <p:nvPr/>
        </p:nvSpPr>
        <p:spPr>
          <a:xfrm>
            <a:off x="6372665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372665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02" name="Shape 200"/>
          <p:cNvSpPr/>
          <p:nvPr/>
        </p:nvSpPr>
        <p:spPr>
          <a:xfrm>
            <a:off x="6882618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882618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04" name="Shape 202"/>
          <p:cNvSpPr/>
          <p:nvPr/>
        </p:nvSpPr>
        <p:spPr>
          <a:xfrm>
            <a:off x="7392572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7392572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06" name="Shape 204"/>
          <p:cNvSpPr/>
          <p:nvPr/>
        </p:nvSpPr>
        <p:spPr>
          <a:xfrm>
            <a:off x="7902526" y="571500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7902526" y="571500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08" name="Text 206"/>
          <p:cNvSpPr/>
          <p:nvPr/>
        </p:nvSpPr>
        <p:spPr>
          <a:xfrm>
            <a:off x="731520" y="611124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disapproval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1783080" y="6111240"/>
            <a:ext cx="491666" cy="377952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783080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211" name="Shape 209"/>
          <p:cNvSpPr/>
          <p:nvPr/>
        </p:nvSpPr>
        <p:spPr>
          <a:xfrm>
            <a:off x="2293034" y="6111240"/>
            <a:ext cx="491666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293034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13" name="Shape 211"/>
          <p:cNvSpPr/>
          <p:nvPr/>
        </p:nvSpPr>
        <p:spPr>
          <a:xfrm>
            <a:off x="2802988" y="6111240"/>
            <a:ext cx="491666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802988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15" name="Shape 213"/>
          <p:cNvSpPr/>
          <p:nvPr/>
        </p:nvSpPr>
        <p:spPr>
          <a:xfrm>
            <a:off x="3312942" y="6111240"/>
            <a:ext cx="491666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312942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17" name="Shape 215"/>
          <p:cNvSpPr/>
          <p:nvPr/>
        </p:nvSpPr>
        <p:spPr>
          <a:xfrm>
            <a:off x="3822895" y="6111240"/>
            <a:ext cx="491666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822895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19" name="Shape 217"/>
          <p:cNvSpPr/>
          <p:nvPr/>
        </p:nvSpPr>
        <p:spPr>
          <a:xfrm>
            <a:off x="4332849" y="6111240"/>
            <a:ext cx="491666" cy="377952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4332849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.07</a:t>
            </a:r>
            <a:endParaRPr lang="en-US" sz="630" dirty="0"/>
          </a:p>
        </p:txBody>
      </p:sp>
      <p:sp>
        <p:nvSpPr>
          <p:cNvPr id="221" name="Shape 219"/>
          <p:cNvSpPr/>
          <p:nvPr/>
        </p:nvSpPr>
        <p:spPr>
          <a:xfrm>
            <a:off x="4842803" y="6111240"/>
            <a:ext cx="491666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842803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23" name="Shape 221"/>
          <p:cNvSpPr/>
          <p:nvPr/>
        </p:nvSpPr>
        <p:spPr>
          <a:xfrm>
            <a:off x="5352757" y="61112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5352757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25" name="Shape 223"/>
          <p:cNvSpPr/>
          <p:nvPr/>
        </p:nvSpPr>
        <p:spPr>
          <a:xfrm>
            <a:off x="5862711" y="61112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862711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27" name="Shape 225"/>
          <p:cNvSpPr/>
          <p:nvPr/>
        </p:nvSpPr>
        <p:spPr>
          <a:xfrm>
            <a:off x="6372665" y="61112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6372665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29" name="Shape 227"/>
          <p:cNvSpPr/>
          <p:nvPr/>
        </p:nvSpPr>
        <p:spPr>
          <a:xfrm>
            <a:off x="6882618" y="61112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882618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31" name="Shape 229"/>
          <p:cNvSpPr/>
          <p:nvPr/>
        </p:nvSpPr>
        <p:spPr>
          <a:xfrm>
            <a:off x="7392572" y="61112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7392572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33" name="Shape 231"/>
          <p:cNvSpPr/>
          <p:nvPr/>
        </p:nvSpPr>
        <p:spPr>
          <a:xfrm>
            <a:off x="7902526" y="611124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7902526" y="611124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630" dirty="0"/>
          </a:p>
        </p:txBody>
      </p:sp>
      <p:sp>
        <p:nvSpPr>
          <p:cNvPr id="235" name="Text 233"/>
          <p:cNvSpPr/>
          <p:nvPr/>
        </p:nvSpPr>
        <p:spPr>
          <a:xfrm>
            <a:off x="731520" y="6507480"/>
            <a:ext cx="996696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annoyance</a:t>
            </a:r>
            <a:endParaRPr lang="en-US" sz="850" dirty="0"/>
          </a:p>
        </p:txBody>
      </p:sp>
      <p:sp>
        <p:nvSpPr>
          <p:cNvPr id="236" name="Shape 234"/>
          <p:cNvSpPr/>
          <p:nvPr/>
        </p:nvSpPr>
        <p:spPr>
          <a:xfrm>
            <a:off x="1783080" y="6507480"/>
            <a:ext cx="491666" cy="37795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783080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</a:t>
            </a:r>
            <a:endParaRPr lang="en-US" sz="630" dirty="0"/>
          </a:p>
        </p:txBody>
      </p:sp>
      <p:sp>
        <p:nvSpPr>
          <p:cNvPr id="238" name="Shape 236"/>
          <p:cNvSpPr/>
          <p:nvPr/>
        </p:nvSpPr>
        <p:spPr>
          <a:xfrm>
            <a:off x="2293034" y="6507480"/>
            <a:ext cx="491666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293034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40" name="Shape 238"/>
          <p:cNvSpPr/>
          <p:nvPr/>
        </p:nvSpPr>
        <p:spPr>
          <a:xfrm>
            <a:off x="2802988" y="65074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2802988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42" name="Shape 240"/>
          <p:cNvSpPr/>
          <p:nvPr/>
        </p:nvSpPr>
        <p:spPr>
          <a:xfrm>
            <a:off x="3312942" y="65074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312942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44" name="Shape 242"/>
          <p:cNvSpPr/>
          <p:nvPr/>
        </p:nvSpPr>
        <p:spPr>
          <a:xfrm>
            <a:off x="3822895" y="65074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3822895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46" name="Shape 244"/>
          <p:cNvSpPr/>
          <p:nvPr/>
        </p:nvSpPr>
        <p:spPr>
          <a:xfrm>
            <a:off x="4332849" y="6507480"/>
            <a:ext cx="491666" cy="377952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332849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.03</a:t>
            </a:r>
            <a:endParaRPr lang="en-US" sz="630" dirty="0"/>
          </a:p>
        </p:txBody>
      </p:sp>
      <p:sp>
        <p:nvSpPr>
          <p:cNvPr id="248" name="Shape 246"/>
          <p:cNvSpPr/>
          <p:nvPr/>
        </p:nvSpPr>
        <p:spPr>
          <a:xfrm>
            <a:off x="4842803" y="6507480"/>
            <a:ext cx="491666" cy="377952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842803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630" dirty="0"/>
          </a:p>
        </p:txBody>
      </p:sp>
      <p:sp>
        <p:nvSpPr>
          <p:cNvPr id="250" name="Shape 248"/>
          <p:cNvSpPr/>
          <p:nvPr/>
        </p:nvSpPr>
        <p:spPr>
          <a:xfrm>
            <a:off x="5352757" y="6507480"/>
            <a:ext cx="491666" cy="37795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352757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52" name="Shape 250"/>
          <p:cNvSpPr/>
          <p:nvPr/>
        </p:nvSpPr>
        <p:spPr>
          <a:xfrm>
            <a:off x="5862711" y="65074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862711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54" name="Shape 252"/>
          <p:cNvSpPr/>
          <p:nvPr/>
        </p:nvSpPr>
        <p:spPr>
          <a:xfrm>
            <a:off x="6372665" y="6507480"/>
            <a:ext cx="491666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372665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56" name="Shape 254"/>
          <p:cNvSpPr/>
          <p:nvPr/>
        </p:nvSpPr>
        <p:spPr>
          <a:xfrm>
            <a:off x="6882618" y="6507480"/>
            <a:ext cx="491666" cy="377952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882618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58" name="Shape 256"/>
          <p:cNvSpPr/>
          <p:nvPr/>
        </p:nvSpPr>
        <p:spPr>
          <a:xfrm>
            <a:off x="7392572" y="65074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392572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60" name="Shape 258"/>
          <p:cNvSpPr/>
          <p:nvPr/>
        </p:nvSpPr>
        <p:spPr>
          <a:xfrm>
            <a:off x="7902526" y="6507480"/>
            <a:ext cx="491666" cy="37795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7902526" y="6507480"/>
            <a:ext cx="491666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</a:t>
            </a:r>
            <a:endParaRPr lang="en-US" sz="630" dirty="0"/>
          </a:p>
        </p:txBody>
      </p:sp>
      <p:sp>
        <p:nvSpPr>
          <p:cNvPr id="262" name="Shape 260"/>
          <p:cNvSpPr/>
          <p:nvPr/>
        </p:nvSpPr>
        <p:spPr>
          <a:xfrm>
            <a:off x="731520" y="7178040"/>
            <a:ext cx="7680960" cy="3063240"/>
          </a:xfrm>
          <a:prstGeom prst="roundRect">
            <a:avLst>
              <a:gd name="adj" fmla="val 2388"/>
            </a:avLst>
          </a:prstGeom>
          <a:solidFill>
            <a:srgbClr val="13221D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1051560" y="7434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64" name="Text 262"/>
          <p:cNvSpPr/>
          <p:nvPr/>
        </p:nvSpPr>
        <p:spPr>
          <a:xfrm>
            <a:off x="1051560" y="774496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for one chapter, false overall.</a:t>
            </a:r>
            <a:endParaRPr lang="en-US" sz="1900" dirty="0"/>
          </a:p>
        </p:txBody>
      </p:sp>
      <p:sp>
        <p:nvSpPr>
          <p:cNvPr id="265" name="Text 263"/>
          <p:cNvSpPr/>
          <p:nvPr/>
        </p:nvSpPr>
        <p:spPr>
          <a:xfrm>
            <a:off x="1051560" y="8293608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Sadness is real at Ch1 (0.13) but collapses to near-zero by Ch3 and never returns.</a:t>
            </a:r>
            <a:endParaRPr lang="en-US" sz="1350" dirty="0"/>
          </a:p>
        </p:txBody>
      </p:sp>
      <p:sp>
        <p:nvSpPr>
          <p:cNvPr id="266" name="Text 264"/>
          <p:cNvSpPr/>
          <p:nvPr/>
        </p:nvSpPr>
        <p:spPr>
          <a:xfrm>
            <a:off x="1051560" y="8778240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Averaged across everything he says: curiosity (≈0.18) beats confusion (≈0.14) beats sadness (≈0.02).</a:t>
            </a:r>
            <a:endParaRPr lang="en-US" sz="1350" dirty="0"/>
          </a:p>
        </p:txBody>
      </p:sp>
      <p:sp>
        <p:nvSpPr>
          <p:cNvPr id="267" name="Text 265"/>
          <p:cNvSpPr/>
          <p:nvPr/>
        </p:nvSpPr>
        <p:spPr>
          <a:xfrm>
            <a:off x="1051560" y="9509760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Despair is his opening scene, not his character.</a:t>
            </a:r>
            <a:endParaRPr lang="en-US" sz="1350" dirty="0"/>
          </a:p>
        </p:txBody>
      </p:sp>
      <p:sp>
        <p:nvSpPr>
          <p:cNvPr id="268" name="Text 266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Gita teaches one consistent message throughout.”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readers treat the Gita as delivering a single core teaching, repeated in different words across 18 chapters.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486400"/>
            <a:ext cx="7680960" cy="2514600"/>
          </a:xfrm>
          <a:prstGeom prst="roundRect">
            <a:avLst>
              <a:gd name="adj" fmla="val 2909"/>
            </a:avLst>
          </a:prstGeom>
          <a:solidFill>
            <a:srgbClr val="271B10"/>
          </a:solidFill>
          <a:ln w="12700">
            <a:solidFill>
              <a:srgbClr val="433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 VERIFIED LIVE LINK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6126480"/>
            <a:ext cx="7040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“...devotional service to Krishna...is the most confidential part of knowledge, and this is the essence of the whole Bhagavad-gita.” (on verse 18.66)</a:t>
            </a:r>
            <a:endParaRPr lang="en-US" sz="14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51560" y="74980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btg.krishna.com/the-essence-of-the-essence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75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Entire commentaries are built around finding "the one verse" that summarizes the whole text.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9509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WHAT DOES THE DATA SAY?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 topic modeling (LDA) on all 18 chapters, letting themes emerge on their own, unlabeled.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DOMINANT THEME BY CHAPTER / REAL VALUES FROM YOUR NOTEBOOK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58952" y="3063240"/>
            <a:ext cx="371856" cy="1371600"/>
          </a:xfrm>
          <a:prstGeom prst="rect">
            <a:avLst/>
          </a:prstGeom>
          <a:solidFill>
            <a:srgbClr val="A8342F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5672" y="3063240"/>
            <a:ext cx="371856" cy="1371600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9" name="Text 7"/>
          <p:cNvSpPr/>
          <p:nvPr/>
        </p:nvSpPr>
        <p:spPr>
          <a:xfrm>
            <a:off x="118567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12392" y="3063240"/>
            <a:ext cx="371856" cy="1371600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11" name="Text 9"/>
          <p:cNvSpPr/>
          <p:nvPr/>
        </p:nvSpPr>
        <p:spPr>
          <a:xfrm>
            <a:off x="161239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39112" y="3063240"/>
            <a:ext cx="371856" cy="1371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203911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65832" y="3063240"/>
            <a:ext cx="371856" cy="1371600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15" name="Text 13"/>
          <p:cNvSpPr/>
          <p:nvPr/>
        </p:nvSpPr>
        <p:spPr>
          <a:xfrm>
            <a:off x="246583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92552" y="3063240"/>
            <a:ext cx="371856" cy="1371600"/>
          </a:xfrm>
          <a:prstGeom prst="rect">
            <a:avLst/>
          </a:prstGeom>
          <a:solidFill>
            <a:srgbClr val="2E4FA3"/>
          </a:solidFill>
          <a:ln/>
        </p:spPr>
      </p:sp>
      <p:sp>
        <p:nvSpPr>
          <p:cNvPr id="17" name="Text 15"/>
          <p:cNvSpPr/>
          <p:nvPr/>
        </p:nvSpPr>
        <p:spPr>
          <a:xfrm>
            <a:off x="289255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9272" y="3063240"/>
            <a:ext cx="371856" cy="1371600"/>
          </a:xfrm>
          <a:prstGeom prst="rect">
            <a:avLst/>
          </a:prstGeom>
          <a:solidFill>
            <a:srgbClr val="2E4FA3"/>
          </a:solidFill>
          <a:ln/>
        </p:spPr>
      </p:sp>
      <p:sp>
        <p:nvSpPr>
          <p:cNvPr id="19" name="Text 17"/>
          <p:cNvSpPr/>
          <p:nvPr/>
        </p:nvSpPr>
        <p:spPr>
          <a:xfrm>
            <a:off x="331927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5992" y="3063240"/>
            <a:ext cx="371856" cy="1371600"/>
          </a:xfrm>
          <a:prstGeom prst="rect">
            <a:avLst/>
          </a:prstGeom>
          <a:solidFill>
            <a:srgbClr val="2E4FA3"/>
          </a:solidFill>
          <a:ln/>
        </p:spPr>
      </p:sp>
      <p:sp>
        <p:nvSpPr>
          <p:cNvPr id="21" name="Text 19"/>
          <p:cNvSpPr/>
          <p:nvPr/>
        </p:nvSpPr>
        <p:spPr>
          <a:xfrm>
            <a:off x="374599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72712" y="3063240"/>
            <a:ext cx="371856" cy="1371600"/>
          </a:xfrm>
          <a:prstGeom prst="rect">
            <a:avLst/>
          </a:prstGeom>
          <a:solidFill>
            <a:srgbClr val="2E4FA3"/>
          </a:solidFill>
          <a:ln/>
        </p:spPr>
      </p:sp>
      <p:sp>
        <p:nvSpPr>
          <p:cNvPr id="23" name="Text 21"/>
          <p:cNvSpPr/>
          <p:nvPr/>
        </p:nvSpPr>
        <p:spPr>
          <a:xfrm>
            <a:off x="417271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9432" y="3063240"/>
            <a:ext cx="371856" cy="1371600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6152" y="3063240"/>
            <a:ext cx="371856" cy="1371600"/>
          </a:xfrm>
          <a:prstGeom prst="rect">
            <a:avLst/>
          </a:prstGeom>
          <a:solidFill>
            <a:srgbClr val="2E4FA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615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52872" y="3063240"/>
            <a:ext cx="371856" cy="1371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545287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79592" y="3063240"/>
            <a:ext cx="371856" cy="1371600"/>
          </a:xfrm>
          <a:prstGeom prst="rect">
            <a:avLst/>
          </a:prstGeom>
          <a:solidFill>
            <a:srgbClr val="9B7FD1"/>
          </a:solidFill>
          <a:ln/>
        </p:spPr>
      </p:sp>
      <p:sp>
        <p:nvSpPr>
          <p:cNvPr id="31" name="Text 29"/>
          <p:cNvSpPr/>
          <p:nvPr/>
        </p:nvSpPr>
        <p:spPr>
          <a:xfrm>
            <a:off x="587959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6312" y="3063240"/>
            <a:ext cx="371856" cy="1371600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631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33032" y="3063240"/>
            <a:ext cx="371856" cy="1371600"/>
          </a:xfrm>
          <a:prstGeom prst="rect">
            <a:avLst/>
          </a:prstGeom>
          <a:solidFill>
            <a:srgbClr val="E8D9B5"/>
          </a:solidFill>
          <a:ln/>
        </p:spPr>
      </p:sp>
      <p:sp>
        <p:nvSpPr>
          <p:cNvPr id="35" name="Text 33"/>
          <p:cNvSpPr/>
          <p:nvPr/>
        </p:nvSpPr>
        <p:spPr>
          <a:xfrm>
            <a:off x="673303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59752" y="3063240"/>
            <a:ext cx="371856" cy="1371600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37" name="Text 35"/>
          <p:cNvSpPr/>
          <p:nvPr/>
        </p:nvSpPr>
        <p:spPr>
          <a:xfrm>
            <a:off x="715975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6472" y="3063240"/>
            <a:ext cx="371856" cy="1371600"/>
          </a:xfrm>
          <a:prstGeom prst="rect">
            <a:avLst/>
          </a:prstGeom>
          <a:solidFill>
            <a:srgbClr val="E8D9B5"/>
          </a:solidFill>
          <a:ln/>
        </p:spPr>
      </p:sp>
      <p:sp>
        <p:nvSpPr>
          <p:cNvPr id="39" name="Text 37"/>
          <p:cNvSpPr/>
          <p:nvPr/>
        </p:nvSpPr>
        <p:spPr>
          <a:xfrm>
            <a:off x="758647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13192" y="3063240"/>
            <a:ext cx="371856" cy="1371600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41" name="Text 39"/>
          <p:cNvSpPr/>
          <p:nvPr/>
        </p:nvSpPr>
        <p:spPr>
          <a:xfrm>
            <a:off x="8013192" y="3063240"/>
            <a:ext cx="371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5202936"/>
            <a:ext cx="201168" cy="201168"/>
          </a:xfrm>
          <a:prstGeom prst="rect">
            <a:avLst/>
          </a:prstGeom>
          <a:solidFill>
            <a:srgbClr val="9B7FD1"/>
          </a:solidFill>
          <a:ln/>
        </p:spPr>
      </p:sp>
      <p:sp>
        <p:nvSpPr>
          <p:cNvPr id="45" name="Text 43"/>
          <p:cNvSpPr/>
          <p:nvPr/>
        </p:nvSpPr>
        <p:spPr>
          <a:xfrm>
            <a:off x="1024128" y="5166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 and the Field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337560" y="5202936"/>
            <a:ext cx="201168" cy="201168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47" name="Text 45"/>
          <p:cNvSpPr/>
          <p:nvPr/>
        </p:nvSpPr>
        <p:spPr>
          <a:xfrm>
            <a:off x="3630168" y="5166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of Action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43600" y="5202936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5166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Sacrifice and Knowledge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31520" y="5660136"/>
            <a:ext cx="201168" cy="201168"/>
          </a:xfrm>
          <a:prstGeom prst="rect">
            <a:avLst/>
          </a:prstGeom>
          <a:solidFill>
            <a:srgbClr val="3FB59F"/>
          </a:solidFill>
          <a:ln/>
        </p:spPr>
      </p:sp>
      <p:sp>
        <p:nvSpPr>
          <p:cNvPr id="51" name="Text 49"/>
          <p:cNvSpPr/>
          <p:nvPr/>
        </p:nvSpPr>
        <p:spPr>
          <a:xfrm>
            <a:off x="1024128" y="5623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Steady Wisdom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337560" y="5660136"/>
            <a:ext cx="201168" cy="201168"/>
          </a:xfrm>
          <a:prstGeom prst="rect">
            <a:avLst/>
          </a:prstGeom>
          <a:solidFill>
            <a:srgbClr val="2E4FA3"/>
          </a:solidFill>
          <a:ln/>
        </p:spPr>
      </p:sp>
      <p:sp>
        <p:nvSpPr>
          <p:cNvPr id="53" name="Text 51"/>
          <p:cNvSpPr/>
          <p:nvPr/>
        </p:nvSpPr>
        <p:spPr>
          <a:xfrm>
            <a:off x="3630168" y="5623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Cosmic Vision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0" y="5660136"/>
            <a:ext cx="201168" cy="201168"/>
          </a:xfrm>
          <a:prstGeom prst="rect">
            <a:avLst/>
          </a:prstGeom>
          <a:solidFill>
            <a:srgbClr val="A8342F"/>
          </a:solidFill>
          <a:ln/>
        </p:spPr>
      </p:sp>
      <p:sp>
        <p:nvSpPr>
          <p:cNvPr id="55" name="Text 53"/>
          <p:cNvSpPr/>
          <p:nvPr/>
        </p:nvSpPr>
        <p:spPr>
          <a:xfrm>
            <a:off x="6236208" y="5623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Battlefield Narrative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31520" y="6117336"/>
            <a:ext cx="201168" cy="201168"/>
          </a:xfrm>
          <a:prstGeom prst="rect">
            <a:avLst/>
          </a:prstGeom>
          <a:solidFill>
            <a:srgbClr val="E8D9B5"/>
          </a:solidFill>
          <a:ln/>
        </p:spPr>
      </p:sp>
      <p:sp>
        <p:nvSpPr>
          <p:cNvPr id="57" name="Text 55"/>
          <p:cNvSpPr/>
          <p:nvPr/>
        </p:nvSpPr>
        <p:spPr>
          <a:xfrm>
            <a:off x="1024128" y="60807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and Purity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31520" y="6492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 8th theme was discovered but never dominates a single chapter, effectively noise.)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1520" y="6903720"/>
            <a:ext cx="7680960" cy="3246120"/>
          </a:xfrm>
          <a:prstGeom prst="roundRect">
            <a:avLst>
              <a:gd name="adj" fmla="val 2254"/>
            </a:avLst>
          </a:prstGeom>
          <a:solidFill>
            <a:srgbClr val="13221D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1560" y="71597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51560" y="747064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False.</a:t>
            </a:r>
            <a:endParaRPr lang="en-US" sz="1900" dirty="0"/>
          </a:p>
        </p:txBody>
      </p:sp>
      <p:sp>
        <p:nvSpPr>
          <p:cNvPr id="62" name="Text 60"/>
          <p:cNvSpPr/>
          <p:nvPr/>
        </p:nvSpPr>
        <p:spPr>
          <a:xfrm>
            <a:off x="1051560" y="8019288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dominant theme swings hard, chapter to chapter, no straight line toward one lesson.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051560" y="8750808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Battlefield, wisdom, action, sacrifice, action, a four-chapter cosmic-vision run, sacrifice, self.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1051560" y="9482328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wisdom and faith keep trading off all the way to the end.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051560" y="9966960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text that keeps changing its own subject.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exact numbers behind the color strip, chapter by chapter.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 TOPIC STRENGTH / REAL VALUES FROM YOUR NOTEBOOK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83080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611755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40430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Sacrifice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69105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Wisdom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97780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26455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55130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83805" y="2825496"/>
            <a:ext cx="8286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30632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11755" y="30632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1755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40430" y="30632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0430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69105" y="30632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9105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97780" y="30632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7780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26455" y="30632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6455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55130" y="306324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5130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83805" y="30632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3805" y="30632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31520" y="331216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33121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83080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611755" y="33121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1755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40430" y="33121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0430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69105" y="331216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69105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97780" y="33121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7780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926455" y="33121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6455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755130" y="33121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5130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583805" y="33121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3805" y="33121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31520" y="356108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83080" y="35610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83080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611755" y="356108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11755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40430" y="35610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40430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269105" y="35610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69105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097780" y="35610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97780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26455" y="35610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6455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755130" y="35610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55130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583805" y="35610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3805" y="35610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1520" y="381000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783080" y="38100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83080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11755" y="38100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11755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440430" y="381000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40430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269105" y="38100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69105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097780" y="38100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97780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926455" y="38100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26455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755130" y="38100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55130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583805" y="38100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83805" y="38100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31520" y="405892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783080" y="40589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783080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611755" y="4058920"/>
            <a:ext cx="810387" cy="230632"/>
          </a:xfrm>
          <a:prstGeom prst="rect">
            <a:avLst/>
          </a:prstGeom>
          <a:solidFill>
            <a:srgbClr val="64492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11755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.64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440430" y="40589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40430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269105" y="40589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69105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5097780" y="4058920"/>
            <a:ext cx="810387" cy="230632"/>
          </a:xfrm>
          <a:prstGeom prst="rect">
            <a:avLst/>
          </a:prstGeom>
          <a:solidFill>
            <a:srgbClr val="262015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97780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.36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926455" y="40589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926455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755130" y="40589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55130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583805" y="40589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83805" y="40589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731520" y="430784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Ch6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783080" y="43078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783080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611755" y="43078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611755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440430" y="43078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40430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269105" y="43078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69105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5097780" y="430784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97780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926455" y="43078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926455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755130" y="43078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755130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7583805" y="43078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583805" y="43078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731520" y="455676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Ch7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1783080" y="45567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783080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611755" y="45567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611755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3440430" y="45567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440430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4269105" y="45567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69105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5097780" y="455676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97780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926455" y="45567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926455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755130" y="45567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755130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7583805" y="45567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583805" y="45567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731520" y="480568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Ch8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783080" y="48056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783080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2611755" y="48056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611755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3440430" y="48056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440430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4269105" y="48056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269105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5097780" y="480568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097780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5926455" y="48056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926455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6755130" y="48056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755130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7583805" y="48056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583805" y="48056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731520" y="505460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Ch9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1783080" y="50546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783080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2611755" y="50546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611755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440430" y="5054600"/>
            <a:ext cx="810387" cy="23063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440430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.17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4269105" y="50546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269105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5097780" y="5054600"/>
            <a:ext cx="810387" cy="230632"/>
          </a:xfrm>
          <a:prstGeom prst="rect">
            <a:avLst/>
          </a:prstGeom>
          <a:solidFill>
            <a:srgbClr val="8C632A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97780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.74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5926455" y="50546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926455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6755130" y="5054600"/>
            <a:ext cx="810387" cy="23063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755130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.09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7583805" y="50546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583805" y="50546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1520" y="530352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Ch10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1783080" y="53035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783080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611755" y="53035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611755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3440430" y="53035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440430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4269105" y="5303520"/>
            <a:ext cx="810387" cy="230632"/>
          </a:xfrm>
          <a:prstGeom prst="rect">
            <a:avLst/>
          </a:prstGeom>
          <a:solidFill>
            <a:srgbClr val="EDA33C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269105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.98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5097780" y="5303520"/>
            <a:ext cx="810387" cy="230632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097780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5926455" y="53035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926455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6755130" y="53035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755130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7583805" y="53035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583805" y="53035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84" name="Text 182"/>
          <p:cNvSpPr/>
          <p:nvPr/>
        </p:nvSpPr>
        <p:spPr>
          <a:xfrm>
            <a:off x="731520" y="555244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Ch11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1783080" y="55524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783080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2611755" y="55524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611755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3440430" y="55524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440430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4269105" y="55524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269105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5097780" y="555244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097780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5926455" y="55524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926455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6755130" y="55524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6755130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7583805" y="55524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7583805" y="55524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01" name="Text 199"/>
          <p:cNvSpPr/>
          <p:nvPr/>
        </p:nvSpPr>
        <p:spPr>
          <a:xfrm>
            <a:off x="731520" y="580136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Ch12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1783080" y="58013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783080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2611755" y="58013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2611755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3440430" y="580136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440430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4269105" y="58013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269105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5097780" y="58013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097780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5926455" y="58013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926455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6755130" y="58013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755130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7583805" y="58013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583805" y="58013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18" name="Text 216"/>
          <p:cNvSpPr/>
          <p:nvPr/>
        </p:nvSpPr>
        <p:spPr>
          <a:xfrm>
            <a:off x="731520" y="605028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Ch13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1783080" y="605028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783080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2611755" y="60502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2611755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3440430" y="60502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3440430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4269105" y="60502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4269105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5097780" y="60502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5097780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29" name="Shape 227"/>
          <p:cNvSpPr/>
          <p:nvPr/>
        </p:nvSpPr>
        <p:spPr>
          <a:xfrm>
            <a:off x="5926455" y="60502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5926455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31" name="Shape 229"/>
          <p:cNvSpPr/>
          <p:nvPr/>
        </p:nvSpPr>
        <p:spPr>
          <a:xfrm>
            <a:off x="6755130" y="60502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6755130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33" name="Shape 231"/>
          <p:cNvSpPr/>
          <p:nvPr/>
        </p:nvSpPr>
        <p:spPr>
          <a:xfrm>
            <a:off x="7583805" y="60502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7583805" y="60502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35" name="Text 233"/>
          <p:cNvSpPr/>
          <p:nvPr/>
        </p:nvSpPr>
        <p:spPr>
          <a:xfrm>
            <a:off x="731520" y="629920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Ch14</a:t>
            </a:r>
            <a:endParaRPr lang="en-US" sz="900" dirty="0"/>
          </a:p>
        </p:txBody>
      </p:sp>
      <p:sp>
        <p:nvSpPr>
          <p:cNvPr id="236" name="Shape 234"/>
          <p:cNvSpPr/>
          <p:nvPr/>
        </p:nvSpPr>
        <p:spPr>
          <a:xfrm>
            <a:off x="1783080" y="62992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783080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2611755" y="62992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611755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3440430" y="62992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3440430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4269105" y="629920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269105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5097780" y="62992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097780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5926455" y="62992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926455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6755130" y="62992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755130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7583805" y="629920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7583805" y="629920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52" name="Text 250"/>
          <p:cNvSpPr/>
          <p:nvPr/>
        </p:nvSpPr>
        <p:spPr>
          <a:xfrm>
            <a:off x="731520" y="654812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Ch15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1783080" y="65481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783080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2611755" y="65481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2611755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57" name="Shape 255"/>
          <p:cNvSpPr/>
          <p:nvPr/>
        </p:nvSpPr>
        <p:spPr>
          <a:xfrm>
            <a:off x="3440430" y="65481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3440430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59" name="Shape 257"/>
          <p:cNvSpPr/>
          <p:nvPr/>
        </p:nvSpPr>
        <p:spPr>
          <a:xfrm>
            <a:off x="4269105" y="65481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4269105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5097780" y="65481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5097780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63" name="Shape 261"/>
          <p:cNvSpPr/>
          <p:nvPr/>
        </p:nvSpPr>
        <p:spPr>
          <a:xfrm>
            <a:off x="5926455" y="65481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5926455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65" name="Shape 263"/>
          <p:cNvSpPr/>
          <p:nvPr/>
        </p:nvSpPr>
        <p:spPr>
          <a:xfrm>
            <a:off x="6755130" y="654812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6755130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67" name="Shape 265"/>
          <p:cNvSpPr/>
          <p:nvPr/>
        </p:nvSpPr>
        <p:spPr>
          <a:xfrm>
            <a:off x="7583805" y="654812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7583805" y="654812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269" name="Text 267"/>
          <p:cNvSpPr/>
          <p:nvPr/>
        </p:nvSpPr>
        <p:spPr>
          <a:xfrm>
            <a:off x="731520" y="679704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Ch16</a:t>
            </a:r>
            <a:endParaRPr lang="en-US" sz="900" dirty="0"/>
          </a:p>
        </p:txBody>
      </p:sp>
      <p:sp>
        <p:nvSpPr>
          <p:cNvPr id="270" name="Shape 268"/>
          <p:cNvSpPr/>
          <p:nvPr/>
        </p:nvSpPr>
        <p:spPr>
          <a:xfrm>
            <a:off x="1783080" y="67970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1783080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72" name="Shape 270"/>
          <p:cNvSpPr/>
          <p:nvPr/>
        </p:nvSpPr>
        <p:spPr>
          <a:xfrm>
            <a:off x="2611755" y="67970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2611755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74" name="Shape 272"/>
          <p:cNvSpPr/>
          <p:nvPr/>
        </p:nvSpPr>
        <p:spPr>
          <a:xfrm>
            <a:off x="3440430" y="67970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3440430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76" name="Shape 274"/>
          <p:cNvSpPr/>
          <p:nvPr/>
        </p:nvSpPr>
        <p:spPr>
          <a:xfrm>
            <a:off x="4269105" y="6797040"/>
            <a:ext cx="810387" cy="230632"/>
          </a:xfrm>
          <a:prstGeom prst="rect">
            <a:avLst/>
          </a:prstGeom>
          <a:solidFill>
            <a:srgbClr val="6C4E24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4269105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.66</a:t>
            </a:r>
            <a:endParaRPr lang="en-US" sz="750" dirty="0"/>
          </a:p>
        </p:txBody>
      </p:sp>
      <p:sp>
        <p:nvSpPr>
          <p:cNvPr id="278" name="Shape 276"/>
          <p:cNvSpPr/>
          <p:nvPr/>
        </p:nvSpPr>
        <p:spPr>
          <a:xfrm>
            <a:off x="5097780" y="6797040"/>
            <a:ext cx="810387" cy="230632"/>
          </a:xfrm>
          <a:prstGeom prst="rect">
            <a:avLst/>
          </a:prstGeom>
          <a:solidFill>
            <a:srgbClr val="211B13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5097780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.23</a:t>
            </a:r>
            <a:endParaRPr lang="en-US" sz="750" dirty="0"/>
          </a:p>
        </p:txBody>
      </p:sp>
      <p:sp>
        <p:nvSpPr>
          <p:cNvPr id="280" name="Shape 278"/>
          <p:cNvSpPr/>
          <p:nvPr/>
        </p:nvSpPr>
        <p:spPr>
          <a:xfrm>
            <a:off x="5926455" y="67970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5926455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82" name="Shape 280"/>
          <p:cNvSpPr/>
          <p:nvPr/>
        </p:nvSpPr>
        <p:spPr>
          <a:xfrm>
            <a:off x="6755130" y="679704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6755130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84" name="Shape 282"/>
          <p:cNvSpPr/>
          <p:nvPr/>
        </p:nvSpPr>
        <p:spPr>
          <a:xfrm>
            <a:off x="7583805" y="6797040"/>
            <a:ext cx="810387" cy="230632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7583805" y="679704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</a:t>
            </a:r>
            <a:endParaRPr lang="en-US" sz="750" dirty="0"/>
          </a:p>
        </p:txBody>
      </p:sp>
      <p:sp>
        <p:nvSpPr>
          <p:cNvPr id="286" name="Text 284"/>
          <p:cNvSpPr/>
          <p:nvPr/>
        </p:nvSpPr>
        <p:spPr>
          <a:xfrm>
            <a:off x="731520" y="704596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Ch17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1783080" y="70459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1783080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89" name="Shape 287"/>
          <p:cNvSpPr/>
          <p:nvPr/>
        </p:nvSpPr>
        <p:spPr>
          <a:xfrm>
            <a:off x="2611755" y="70459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2611755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91" name="Shape 289"/>
          <p:cNvSpPr/>
          <p:nvPr/>
        </p:nvSpPr>
        <p:spPr>
          <a:xfrm>
            <a:off x="3440430" y="70459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3440430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93" name="Shape 291"/>
          <p:cNvSpPr/>
          <p:nvPr/>
        </p:nvSpPr>
        <p:spPr>
          <a:xfrm>
            <a:off x="4269105" y="70459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4269105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95" name="Shape 293"/>
          <p:cNvSpPr/>
          <p:nvPr/>
        </p:nvSpPr>
        <p:spPr>
          <a:xfrm>
            <a:off x="5097780" y="70459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5097780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97" name="Shape 295"/>
          <p:cNvSpPr/>
          <p:nvPr/>
        </p:nvSpPr>
        <p:spPr>
          <a:xfrm>
            <a:off x="5926455" y="70459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5926455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299" name="Shape 297"/>
          <p:cNvSpPr/>
          <p:nvPr/>
        </p:nvSpPr>
        <p:spPr>
          <a:xfrm>
            <a:off x="6755130" y="704596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6755130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01" name="Shape 299"/>
          <p:cNvSpPr/>
          <p:nvPr/>
        </p:nvSpPr>
        <p:spPr>
          <a:xfrm>
            <a:off x="7583805" y="704596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7583805" y="704596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303" name="Text 301"/>
          <p:cNvSpPr/>
          <p:nvPr/>
        </p:nvSpPr>
        <p:spPr>
          <a:xfrm>
            <a:off x="731520" y="7294880"/>
            <a:ext cx="996696" cy="24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Ch18</a:t>
            </a:r>
            <a:endParaRPr lang="en-US" sz="900" dirty="0"/>
          </a:p>
        </p:txBody>
      </p:sp>
      <p:sp>
        <p:nvSpPr>
          <p:cNvPr id="304" name="Shape 302"/>
          <p:cNvSpPr/>
          <p:nvPr/>
        </p:nvSpPr>
        <p:spPr>
          <a:xfrm>
            <a:off x="1783080" y="72948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1783080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06" name="Shape 304"/>
          <p:cNvSpPr/>
          <p:nvPr/>
        </p:nvSpPr>
        <p:spPr>
          <a:xfrm>
            <a:off x="2611755" y="72948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2611755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08" name="Shape 306"/>
          <p:cNvSpPr/>
          <p:nvPr/>
        </p:nvSpPr>
        <p:spPr>
          <a:xfrm>
            <a:off x="3440430" y="72948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3440430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10" name="Shape 308"/>
          <p:cNvSpPr/>
          <p:nvPr/>
        </p:nvSpPr>
        <p:spPr>
          <a:xfrm>
            <a:off x="4269105" y="7294880"/>
            <a:ext cx="810387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4269105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750" dirty="0"/>
          </a:p>
        </p:txBody>
      </p:sp>
      <p:sp>
        <p:nvSpPr>
          <p:cNvPr id="312" name="Shape 310"/>
          <p:cNvSpPr/>
          <p:nvPr/>
        </p:nvSpPr>
        <p:spPr>
          <a:xfrm>
            <a:off x="5097780" y="72948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5097780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14" name="Shape 312"/>
          <p:cNvSpPr/>
          <p:nvPr/>
        </p:nvSpPr>
        <p:spPr>
          <a:xfrm>
            <a:off x="5926455" y="72948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5926455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16" name="Shape 314"/>
          <p:cNvSpPr/>
          <p:nvPr/>
        </p:nvSpPr>
        <p:spPr>
          <a:xfrm>
            <a:off x="6755130" y="72948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6755130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18" name="Shape 316"/>
          <p:cNvSpPr/>
          <p:nvPr/>
        </p:nvSpPr>
        <p:spPr>
          <a:xfrm>
            <a:off x="7583805" y="7294880"/>
            <a:ext cx="810387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7583805" y="7294880"/>
            <a:ext cx="810387" cy="230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B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</a:t>
            </a:r>
            <a:endParaRPr lang="en-US" sz="750" dirty="0"/>
          </a:p>
        </p:txBody>
      </p:sp>
      <p:sp>
        <p:nvSpPr>
          <p:cNvPr id="320" name="Shape 318"/>
          <p:cNvSpPr/>
          <p:nvPr/>
        </p:nvSpPr>
        <p:spPr>
          <a:xfrm>
            <a:off x="731520" y="7726680"/>
            <a:ext cx="7680960" cy="2926080"/>
          </a:xfrm>
          <a:prstGeom prst="roundRect">
            <a:avLst>
              <a:gd name="adj" fmla="val 2500"/>
            </a:avLst>
          </a:prstGeom>
          <a:solidFill>
            <a:srgbClr val="13221D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1051560" y="79827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22" name="Text 320"/>
          <p:cNvSpPr/>
          <p:nvPr/>
        </p:nvSpPr>
        <p:spPr>
          <a:xfrm>
            <a:off x="1051560" y="82936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the extremes, and the empty column.</a:t>
            </a:r>
            <a:endParaRPr lang="en-US" sz="1900" dirty="0"/>
          </a:p>
        </p:txBody>
      </p:sp>
      <p:sp>
        <p:nvSpPr>
          <p:cNvPr id="323" name="Text 321"/>
          <p:cNvSpPr/>
          <p:nvPr/>
        </p:nvSpPr>
        <p:spPr>
          <a:xfrm>
            <a:off x="1051560" y="8842248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chapters lock almost entirely onto one theme, not a gentle blend.</a:t>
            </a:r>
            <a:endParaRPr lang="en-US" sz="1350" dirty="0"/>
          </a:p>
        </p:txBody>
      </p:sp>
      <p:sp>
        <p:nvSpPr>
          <p:cNvPr id="324" name="Text 322"/>
          <p:cNvSpPr/>
          <p:nvPr/>
        </p:nvSpPr>
        <p:spPr>
          <a:xfrm>
            <a:off x="1051560" y="9326880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"Minor" (5th column) never wins anywhere: 0.00 in every single row.</a:t>
            </a:r>
            <a:endParaRPr lang="en-US" sz="1350" dirty="0"/>
          </a:p>
        </p:txBody>
      </p:sp>
      <p:sp>
        <p:nvSpPr>
          <p:cNvPr id="325" name="Text 323"/>
          <p:cNvSpPr/>
          <p:nvPr/>
        </p:nvSpPr>
        <p:spPr>
          <a:xfrm>
            <a:off x="1051560" y="9811512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noise the model produced, but no chapter ever actually needed it.</a:t>
            </a:r>
            <a:endParaRPr lang="en-US" sz="1350" dirty="0"/>
          </a:p>
        </p:txBody>
      </p:sp>
      <p:sp>
        <p:nvSpPr>
          <p:cNvPr id="326" name="Text 324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SPECULATION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“It's easy to understand, for a mature mind.”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reassurance to new readers: the philosophy is deep, but the language itself won't be the obstacle.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577840"/>
            <a:ext cx="7680960" cy="2103120"/>
          </a:xfrm>
          <a:prstGeom prst="roundRect">
            <a:avLst>
              <a:gd name="adj" fmla="val 3478"/>
            </a:avLst>
          </a:prstGeom>
          <a:solidFill>
            <a:srgbClr val="271B10"/>
          </a:solidFill>
          <a:ln w="12700">
            <a:solidFill>
              <a:srgbClr val="433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 VERIFIED LIVE LINK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621792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Gita is very easy to understand in any language for a mature mind. A repeated reading...will reveal all the sublime ideas contained in it.”</a:t>
            </a:r>
            <a:endParaRPr lang="en-US" sz="14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51560" y="7178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gita-society.com/Read-bhagavad-gita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79095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“Mature mind” is doing a lot of quiet work in that sentence. What does the reading level actually require?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9509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WHAT DOES THE DATA SAY?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DATA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the real Flesch-Kincaid grade level of every chapter.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GRADE LEVEL BY CHAPTER / REAL VALUES FROM YOUR NOTEBOOK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58952" y="5201793"/>
            <a:ext cx="371856" cy="696087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7" name="Shape 5"/>
          <p:cNvSpPr/>
          <p:nvPr/>
        </p:nvSpPr>
        <p:spPr>
          <a:xfrm>
            <a:off x="1185672" y="5168646"/>
            <a:ext cx="371856" cy="729234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8" name="Shape 6"/>
          <p:cNvSpPr/>
          <p:nvPr/>
        </p:nvSpPr>
        <p:spPr>
          <a:xfrm>
            <a:off x="1612392" y="5407304"/>
            <a:ext cx="371856" cy="490576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9" name="Shape 7"/>
          <p:cNvSpPr/>
          <p:nvPr/>
        </p:nvSpPr>
        <p:spPr>
          <a:xfrm>
            <a:off x="2039112" y="5042687"/>
            <a:ext cx="371856" cy="855193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0" name="Shape 8"/>
          <p:cNvSpPr/>
          <p:nvPr/>
        </p:nvSpPr>
        <p:spPr>
          <a:xfrm>
            <a:off x="2465832" y="4353230"/>
            <a:ext cx="371856" cy="1544650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1" name="Shape 9"/>
          <p:cNvSpPr/>
          <p:nvPr/>
        </p:nvSpPr>
        <p:spPr>
          <a:xfrm>
            <a:off x="2892552" y="4943246"/>
            <a:ext cx="371856" cy="954634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4777511"/>
            <a:ext cx="371856" cy="1120369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5992" y="4595203"/>
            <a:ext cx="371856" cy="1302677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4172712" y="4684700"/>
            <a:ext cx="371856" cy="1213180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9432" y="5437137"/>
            <a:ext cx="371856" cy="460743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6152" y="5205108"/>
            <a:ext cx="371856" cy="692772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52872" y="4446041"/>
            <a:ext cx="371856" cy="1451839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9592" y="5019484"/>
            <a:ext cx="371856" cy="878396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6312" y="4336656"/>
            <a:ext cx="371856" cy="1561224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733032" y="4078110"/>
            <a:ext cx="371856" cy="1819770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59752" y="4817288"/>
            <a:ext cx="371856" cy="1080592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6472" y="3501352"/>
            <a:ext cx="371856" cy="2396528"/>
          </a:xfrm>
          <a:prstGeom prst="rect">
            <a:avLst/>
          </a:prstGeom>
          <a:solidFill>
            <a:srgbClr val="F5A83D"/>
          </a:solidFill>
          <a:ln/>
        </p:spPr>
      </p:sp>
      <p:sp>
        <p:nvSpPr>
          <p:cNvPr id="23" name="Shape 21"/>
          <p:cNvSpPr/>
          <p:nvPr/>
        </p:nvSpPr>
        <p:spPr>
          <a:xfrm>
            <a:off x="8013192" y="3981983"/>
            <a:ext cx="371856" cy="1915897"/>
          </a:xfrm>
          <a:prstGeom prst="rect">
            <a:avLst/>
          </a:prstGeom>
          <a:solidFill>
            <a:srgbClr val="3A2E1E"/>
          </a:solidFill>
          <a:ln/>
        </p:spPr>
      </p:sp>
      <p:sp>
        <p:nvSpPr>
          <p:cNvPr id="24" name="Text 22"/>
          <p:cNvSpPr/>
          <p:nvPr/>
        </p:nvSpPr>
        <p:spPr>
          <a:xfrm>
            <a:off x="7284720" y="3135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9710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09560" y="59710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6446520"/>
            <a:ext cx="7680960" cy="3566160"/>
          </a:xfrm>
          <a:prstGeom prst="roundRect">
            <a:avLst>
              <a:gd name="adj" fmla="val 2051"/>
            </a:avLst>
          </a:prstGeom>
          <a:solidFill>
            <a:srgbClr val="13221D"/>
          </a:solidFill>
          <a:ln w="12700">
            <a:solidFill>
              <a:srgbClr val="3FB5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67025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701344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5A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right.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51560" y="7562088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grade level across all 18 chapters is 12.7: college-entry reading, not simple prose.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51560" y="8293608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ranges from 10.4 up to 16.2 at Chapter 17, genuine college-level density.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51560" y="8778240"/>
            <a:ext cx="7040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"Easy" undersells it. "For a mature mind" turns out to be the accurate part.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50" dirty="0">
                <a:solidFill>
                  <a:srgbClr val="3F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ॐ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3F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F0E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belief gets the Gita half right, at best.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C3B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where it feels anything, but mostly silent. No war words in Krishna's own voice. Most comforting exactly where he's most terrifying. Despairing for one chapter, curious for seventeen. A quarter of its themes hold up under scrutiny. Genuinely hard to read, not simply hard to accept. Every claim, tested, not assumed.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7178040"/>
            <a:ext cx="7680960" cy="1920240"/>
          </a:xfrm>
          <a:prstGeom prst="roundRect">
            <a:avLst>
              <a:gd name="adj" fmla="val 3810"/>
            </a:avLst>
          </a:prstGeom>
          <a:solidFill>
            <a:srgbClr val="1C1811"/>
          </a:solidFill>
          <a:ln w="12700">
            <a:solidFill>
              <a:srgbClr val="352D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7452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7818120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0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spaCy dependency parsing · GoEmotions (28-class RoBERTa) · LDA topic modeling · LaBSE cross-lingual embeddings · textstat · pandas · seaborn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9281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verses · 18 chapters · 9 analytical methods · zero assumptions on faith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1005840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1005840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0058400"/>
            <a:ext cx="54864" cy="54864"/>
          </a:xfrm>
          <a:prstGeom prst="ellipse">
            <a:avLst/>
          </a:prstGeom>
          <a:solidFill>
            <a:srgbClr val="3FB59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005840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10058400"/>
            <a:ext cx="54864" cy="54864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0424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interactive breakdown in comments 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10835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Does Data Actually Say About the Gita?</dc:title>
  <dc:subject>PptxGenJS Presentation</dc:subject>
  <dc:creator>Soumil</dc:creator>
  <cp:lastModifiedBy>Soumil</cp:lastModifiedBy>
  <cp:revision>1</cp:revision>
  <dcterms:created xsi:type="dcterms:W3CDTF">2026-07-12T16:31:52Z</dcterms:created>
  <dcterms:modified xsi:type="dcterms:W3CDTF">2026-07-12T16:31:52Z</dcterms:modified>
</cp:coreProperties>
</file>